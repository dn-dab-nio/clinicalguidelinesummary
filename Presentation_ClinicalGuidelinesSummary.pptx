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70" r:id="rId3"/>
    <p:sldId id="321" r:id="rId4"/>
    <p:sldId id="320" r:id="rId5"/>
    <p:sldId id="283" r:id="rId6"/>
    <p:sldId id="323" r:id="rId7"/>
    <p:sldId id="322" r:id="rId8"/>
    <p:sldId id="324" r:id="rId9"/>
    <p:sldId id="325" r:id="rId10"/>
    <p:sldId id="327" r:id="rId11"/>
    <p:sldId id="328" r:id="rId12"/>
    <p:sldId id="330" r:id="rId13"/>
    <p:sldId id="331" r:id="rId14"/>
    <p:sldId id="329" r:id="rId15"/>
    <p:sldId id="332" r:id="rId16"/>
    <p:sldId id="333" r:id="rId17"/>
    <p:sldId id="326" r:id="rId18"/>
    <p:sldId id="269" r:id="rId19"/>
  </p:sldIdLst>
  <p:sldSz cx="17348200" cy="9753600"/>
  <p:notesSz cx="17348200" cy="97536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9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Styl pośredni 4 — Ak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Styl pośredni 3 — Ak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Styl jasny 1 — Ak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8" autoAdjust="0"/>
    <p:restoredTop sz="96283" autoAdjust="0"/>
  </p:normalViewPr>
  <p:slideViewPr>
    <p:cSldViewPr>
      <p:cViewPr varScale="1">
        <p:scale>
          <a:sx n="76" d="100"/>
          <a:sy n="76" d="100"/>
        </p:scale>
        <p:origin x="540" y="1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113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CD8ED57-9C09-4853-A0D0-EC34CBC089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9826625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E61DE-1085-47AB-AAE3-B3539548EBA7}" type="datetimeFigureOut">
              <a:rPr lang="pl-PL" smtClean="0"/>
              <a:t>2026-04-13</a:t>
            </a:fld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9A4A421-B078-43B8-ADA6-D2DA70E5F5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9826625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A0FAD-47BF-465E-ACFA-2AE537EA2280}" type="slidenum">
              <a:rPr lang="pl-PL" smtClean="0"/>
              <a:t>‹#›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65FE799-56A5-4EB5-8903-44B08C793F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4" name="Symbol zastępczy nagłówka 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512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9826625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BDDAD-0262-4D49-84E2-04283E1DDE08}" type="datetimeFigureOut">
              <a:rPr lang="pl-PL" smtClean="0"/>
              <a:t>2026-04-13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0" y="1219200"/>
            <a:ext cx="585470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1735138" y="4694238"/>
            <a:ext cx="138779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l-PL" dirty="0"/>
              <a:t>www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9826625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4783-92F2-4F12-9659-D20182A0DC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337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4783-92F2-4F12-9659-D20182A0DCA0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3413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48BC-14EC-A283-2597-02192C73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4EEDB91-5CC5-3711-373B-72F92C195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3171282-5B27-07CC-35BF-FE2FA5032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05C0E56-B6FB-1AE0-CB99-478076CE5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4783-92F2-4F12-9659-D20182A0DCA0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0223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1115" y="3505200"/>
            <a:ext cx="14745970" cy="3352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9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02230" y="7010400"/>
            <a:ext cx="12143740" cy="137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3600">
                <a:latin typeface="Good Headline Pro"/>
                <a:cs typeface="Arial" panose="020B0604020202020204" pitchFamily="34" charset="0"/>
              </a:defRPr>
            </a:lvl1pPr>
          </a:lstStyle>
          <a:p>
            <a:r>
              <a:rPr lang="pl-PL" dirty="0"/>
              <a:t>Kliknij, aby edytować styl wzorca podtytułu</a:t>
            </a:r>
            <a:endParaRPr dirty="0"/>
          </a:p>
        </p:txBody>
      </p:sp>
      <p:pic>
        <p:nvPicPr>
          <p:cNvPr id="4" name="Obraz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00" y="533400"/>
            <a:ext cx="7574400" cy="25200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9E9555DC-26A5-438E-98A7-B9863F0C61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514860" y="9296244"/>
            <a:ext cx="1479436" cy="230128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latin typeface="Good Headline Pro"/>
              </a:defRPr>
            </a:lvl1pPr>
          </a:lstStyle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‹#›</a:t>
            </a:fld>
            <a:endParaRPr dirty="0"/>
          </a:p>
        </p:txBody>
      </p:sp>
      <p:sp>
        <p:nvSpPr>
          <p:cNvPr id="7" name="pole tekstowe 1"/>
          <p:cNvSpPr txBox="1">
            <a:spLocks noChangeArrowheads="1"/>
          </p:cNvSpPr>
          <p:nvPr userDrawn="1"/>
        </p:nvSpPr>
        <p:spPr bwMode="auto">
          <a:xfrm>
            <a:off x="2409404" y="9289480"/>
            <a:ext cx="49195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pl-PL" sz="1400" b="0" i="0" dirty="0">
                <a:solidFill>
                  <a:prstClr val="black"/>
                </a:solidFill>
                <a:latin typeface="Good Headline Pro"/>
                <a:cs typeface="Arial" panose="020B0604020202020204" pitchFamily="34" charset="0"/>
              </a:rPr>
              <a:t>Department of Biostatistics and Bioinformatics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EE4E020-F140-7DD8-2FBB-AF9AE7FAA2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172" y="9073466"/>
            <a:ext cx="1839476" cy="612000"/>
          </a:xfrm>
          <a:prstGeom prst="rect">
            <a:avLst/>
          </a:prstGeom>
        </p:spPr>
      </p:pic>
      <p:sp>
        <p:nvSpPr>
          <p:cNvPr id="13" name="Holder 2">
            <a:extLst>
              <a:ext uri="{FF2B5EF4-FFF2-40B4-BE49-F238E27FC236}">
                <a16:creationId xmlns:a16="http://schemas.microsoft.com/office/drawing/2014/main" id="{3900F3AE-4E64-A8DE-9A05-EDE8DF73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CA587BE3-D049-DD3C-822C-7213CD2EEC36}"/>
              </a:ext>
            </a:extLst>
          </p:cNvPr>
          <p:cNvSpPr/>
          <p:nvPr userDrawn="1"/>
        </p:nvSpPr>
        <p:spPr>
          <a:xfrm>
            <a:off x="2337396" y="9194800"/>
            <a:ext cx="0" cy="558800"/>
          </a:xfrm>
          <a:custGeom>
            <a:avLst/>
            <a:gdLst/>
            <a:ahLst/>
            <a:cxnLst/>
            <a:rect l="l" t="t" r="r" b="b"/>
            <a:pathLst>
              <a:path h="558800">
                <a:moveTo>
                  <a:pt x="0" y="0"/>
                </a:moveTo>
                <a:lnTo>
                  <a:pt x="0" y="558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7410" y="2243328"/>
            <a:ext cx="7546467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34323" y="2243328"/>
            <a:ext cx="7546467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707AA2DD-1551-6EEA-5BEF-75425CB86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5D5B9165-5AD4-B247-6701-7CA2EDB738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172" y="9073466"/>
            <a:ext cx="1839476" cy="612000"/>
          </a:xfrm>
          <a:prstGeom prst="rect">
            <a:avLst/>
          </a:prstGeom>
        </p:spPr>
      </p:pic>
      <p:sp>
        <p:nvSpPr>
          <p:cNvPr id="8" name="pole tekstowe 1">
            <a:extLst>
              <a:ext uri="{FF2B5EF4-FFF2-40B4-BE49-F238E27FC236}">
                <a16:creationId xmlns:a16="http://schemas.microsoft.com/office/drawing/2014/main" id="{CEF51ADA-71F9-3B2B-34E5-41CD94E63A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09404" y="9289480"/>
            <a:ext cx="49195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pl-PL" sz="1400" b="0" i="0" dirty="0">
                <a:solidFill>
                  <a:prstClr val="black"/>
                </a:solidFill>
                <a:latin typeface="Good Headline Pro"/>
                <a:cs typeface="Arial" panose="020B0604020202020204" pitchFamily="34" charset="0"/>
              </a:rPr>
              <a:t>Department of Biostatistics and Bioinformatics</a:t>
            </a:r>
          </a:p>
        </p:txBody>
      </p:sp>
      <p:sp>
        <p:nvSpPr>
          <p:cNvPr id="13" name="Symbol zastępczy numeru slajdu 8">
            <a:extLst>
              <a:ext uri="{FF2B5EF4-FFF2-40B4-BE49-F238E27FC236}">
                <a16:creationId xmlns:a16="http://schemas.microsoft.com/office/drawing/2014/main" id="{BDCCCCC1-D20A-79DE-90C5-5D15C6AD3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514860" y="9296244"/>
            <a:ext cx="1479436" cy="230128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latin typeface="Good Headline Pro"/>
              </a:defRPr>
            </a:lvl1pPr>
          </a:lstStyle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‹#›</a:t>
            </a:fld>
            <a:endParaRPr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01EA9B38-FD78-F901-AC2B-7CD5A18C46C3}"/>
              </a:ext>
            </a:extLst>
          </p:cNvPr>
          <p:cNvSpPr/>
          <p:nvPr userDrawn="1"/>
        </p:nvSpPr>
        <p:spPr>
          <a:xfrm>
            <a:off x="2337396" y="9194800"/>
            <a:ext cx="0" cy="558800"/>
          </a:xfrm>
          <a:custGeom>
            <a:avLst/>
            <a:gdLst/>
            <a:ahLst/>
            <a:cxnLst/>
            <a:rect l="l" t="t" r="r" b="b"/>
            <a:pathLst>
              <a:path h="558800">
                <a:moveTo>
                  <a:pt x="0" y="0"/>
                </a:moveTo>
                <a:lnTo>
                  <a:pt x="0" y="558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2">
            <a:extLst>
              <a:ext uri="{FF2B5EF4-FFF2-40B4-BE49-F238E27FC236}">
                <a16:creationId xmlns:a16="http://schemas.microsoft.com/office/drawing/2014/main" id="{69667078-170C-5D90-B749-62FF2707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AD81A9A-843C-9BB8-EA6E-A54FFFEF39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172" y="9073466"/>
            <a:ext cx="1839476" cy="612000"/>
          </a:xfrm>
          <a:prstGeom prst="rect">
            <a:avLst/>
          </a:prstGeom>
        </p:spPr>
      </p:pic>
      <p:sp>
        <p:nvSpPr>
          <p:cNvPr id="6" name="pole tekstowe 1">
            <a:extLst>
              <a:ext uri="{FF2B5EF4-FFF2-40B4-BE49-F238E27FC236}">
                <a16:creationId xmlns:a16="http://schemas.microsoft.com/office/drawing/2014/main" id="{101B89C4-EF01-86B5-1127-7B2205449D4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09404" y="9289480"/>
            <a:ext cx="49195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pl-PL" sz="1400" b="0" i="0" dirty="0">
                <a:solidFill>
                  <a:prstClr val="black"/>
                </a:solidFill>
                <a:latin typeface="Good Headline Pro"/>
                <a:cs typeface="Arial" panose="020B0604020202020204" pitchFamily="34" charset="0"/>
              </a:rPr>
              <a:t>Department of Biostatistics and Bioinformatics</a:t>
            </a:r>
          </a:p>
        </p:txBody>
      </p:sp>
      <p:sp>
        <p:nvSpPr>
          <p:cNvPr id="11" name="Symbol zastępczy numeru slajdu 8">
            <a:extLst>
              <a:ext uri="{FF2B5EF4-FFF2-40B4-BE49-F238E27FC236}">
                <a16:creationId xmlns:a16="http://schemas.microsoft.com/office/drawing/2014/main" id="{67D32130-4461-8113-9361-93F1D6733A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514860" y="9296244"/>
            <a:ext cx="1479436" cy="230128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latin typeface="Good Headline Pro"/>
              </a:defRPr>
            </a:lvl1pPr>
          </a:lstStyle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‹#›</a:t>
            </a:fld>
            <a:endParaRPr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CF975305-77B0-037D-AEDA-56CD5BFBD69F}"/>
              </a:ext>
            </a:extLst>
          </p:cNvPr>
          <p:cNvSpPr/>
          <p:nvPr userDrawn="1"/>
        </p:nvSpPr>
        <p:spPr>
          <a:xfrm>
            <a:off x="2337396" y="9194800"/>
            <a:ext cx="0" cy="558800"/>
          </a:xfrm>
          <a:custGeom>
            <a:avLst/>
            <a:gdLst/>
            <a:ahLst/>
            <a:cxnLst/>
            <a:rect l="l" t="t" r="r" b="b"/>
            <a:pathLst>
              <a:path h="558800">
                <a:moveTo>
                  <a:pt x="0" y="0"/>
                </a:moveTo>
                <a:lnTo>
                  <a:pt x="0" y="558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AD5A7280-75A7-D5B4-04F4-2C2BBB38F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9A577FE-91AF-81BC-0A36-B391C89ADA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172" y="9073466"/>
            <a:ext cx="1839476" cy="612000"/>
          </a:xfrm>
          <a:prstGeom prst="rect">
            <a:avLst/>
          </a:prstGeom>
        </p:spPr>
      </p:pic>
      <p:sp>
        <p:nvSpPr>
          <p:cNvPr id="5" name="pole tekstowe 1">
            <a:extLst>
              <a:ext uri="{FF2B5EF4-FFF2-40B4-BE49-F238E27FC236}">
                <a16:creationId xmlns:a16="http://schemas.microsoft.com/office/drawing/2014/main" id="{9231FD59-F55E-06D7-966B-D615FC140F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09404" y="9289480"/>
            <a:ext cx="49195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pl-PL" sz="1400" b="0" i="0" dirty="0">
                <a:solidFill>
                  <a:prstClr val="black"/>
                </a:solidFill>
                <a:latin typeface="Good Headline Pro"/>
                <a:cs typeface="Arial" panose="020B0604020202020204" pitchFamily="34" charset="0"/>
              </a:rPr>
              <a:t>Department of Biostatistics and Bioinformatics</a:t>
            </a:r>
          </a:p>
        </p:txBody>
      </p:sp>
      <p:sp>
        <p:nvSpPr>
          <p:cNvPr id="8" name="Symbol zastępczy numeru slajdu 8">
            <a:extLst>
              <a:ext uri="{FF2B5EF4-FFF2-40B4-BE49-F238E27FC236}">
                <a16:creationId xmlns:a16="http://schemas.microsoft.com/office/drawing/2014/main" id="{5128D2F0-BABB-D4CC-8858-913F4C379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514860" y="9296244"/>
            <a:ext cx="1479436" cy="230128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latin typeface="Good Headline Pro"/>
              </a:defRPr>
            </a:lvl1pPr>
          </a:lstStyle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‹#›</a:t>
            </a:fld>
            <a:endParaRPr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8E1BCC24-9E11-3D63-F3AD-EDF2A970E468}"/>
              </a:ext>
            </a:extLst>
          </p:cNvPr>
          <p:cNvSpPr/>
          <p:nvPr userDrawn="1"/>
        </p:nvSpPr>
        <p:spPr>
          <a:xfrm>
            <a:off x="2337396" y="9194800"/>
            <a:ext cx="0" cy="558800"/>
          </a:xfrm>
          <a:custGeom>
            <a:avLst/>
            <a:gdLst/>
            <a:ahLst/>
            <a:cxnLst/>
            <a:rect l="l" t="t" r="r" b="b"/>
            <a:pathLst>
              <a:path h="558800">
                <a:moveTo>
                  <a:pt x="0" y="0"/>
                </a:moveTo>
                <a:lnTo>
                  <a:pt x="0" y="558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7410" y="2243328"/>
            <a:ext cx="15613380" cy="674827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 eaLnBrk="1" hangingPunct="1">
        <a:defRPr sz="3600" b="1">
          <a:latin typeface="Good Headline Pro"/>
          <a:ea typeface="+mj-ea"/>
          <a:cs typeface="+mj-cs"/>
        </a:defRPr>
      </a:lvl1pPr>
    </p:titleStyle>
    <p:bodyStyle>
      <a:lvl1pPr marL="0" eaLnBrk="1" hangingPunct="1">
        <a:defRPr sz="2400"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3F72D00C-5325-4C8E-9357-A7721239B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115" y="3076600"/>
            <a:ext cx="14745970" cy="2686227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pl-PL" sz="3600" b="0" dirty="0"/>
              <a:t>Projekt tworzony w ramach wolontariatu:</a:t>
            </a:r>
            <a:br>
              <a:rPr lang="pl-PL" sz="3600" dirty="0"/>
            </a:br>
            <a:br>
              <a:rPr lang="pl-PL" sz="3600" dirty="0"/>
            </a:br>
            <a:r>
              <a:rPr lang="pl-PL" sz="3600" dirty="0"/>
              <a:t>System wspomagania decyzji klinicznych z wykorzystaniem modeli językowych (LLM)</a:t>
            </a:r>
            <a:br>
              <a:rPr lang="pl-PL" sz="4000" dirty="0"/>
            </a:br>
            <a:br>
              <a:rPr lang="pl-PL" sz="4000" dirty="0"/>
            </a:br>
            <a:endParaRPr lang="pl-PL" sz="4000" dirty="0"/>
          </a:p>
        </p:txBody>
      </p:sp>
      <p:sp>
        <p:nvSpPr>
          <p:cNvPr id="5" name="Podtytuł 4">
            <a:extLst>
              <a:ext uri="{FF2B5EF4-FFF2-40B4-BE49-F238E27FC236}">
                <a16:creationId xmlns:a16="http://schemas.microsoft.com/office/drawing/2014/main" id="{7FADB485-3380-4692-BDE6-605D441A723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15800" y="7016117"/>
            <a:ext cx="14916600" cy="1371600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pl-PL" sz="2400" spc="-1" dirty="0">
                <a:solidFill>
                  <a:srgbClr val="000000"/>
                </a:solidFill>
                <a:latin typeface="Arial"/>
              </a:rPr>
              <a:t>D</a:t>
            </a:r>
            <a:r>
              <a:rPr lang="en-US" sz="2400" spc="-1" dirty="0" err="1">
                <a:solidFill>
                  <a:srgbClr val="000000"/>
                </a:solidFill>
                <a:latin typeface="Arial"/>
              </a:rPr>
              <a:t>epartment</a:t>
            </a:r>
            <a:r>
              <a:rPr lang="en-US" sz="2400" spc="-1" dirty="0">
                <a:solidFill>
                  <a:srgbClr val="000000"/>
                </a:solidFill>
                <a:latin typeface="Arial"/>
              </a:rPr>
              <a:t> of Biostatistics and Bioinformatics</a:t>
            </a:r>
            <a:endParaRPr lang="pl-PL" sz="2400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spcAft>
                <a:spcPts val="300"/>
              </a:spcAft>
            </a:pPr>
            <a:r>
              <a:rPr lang="pl-PL" sz="2400" spc="-1" dirty="0">
                <a:solidFill>
                  <a:srgbClr val="000000"/>
                </a:solidFill>
                <a:latin typeface="Arial"/>
              </a:rPr>
              <a:t>Dział Analiz </a:t>
            </a: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Bioinformatyczno-Biostatystycznych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 </a:t>
            </a:r>
            <a:endParaRPr lang="pl-PL" sz="2400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spcAft>
                <a:spcPts val="300"/>
              </a:spcAft>
            </a:pPr>
            <a:endParaRPr lang="pl-PL" sz="2400" b="1" dirty="0"/>
          </a:p>
        </p:txBody>
      </p:sp>
      <p:sp>
        <p:nvSpPr>
          <p:cNvPr id="8" name="CustomShape 4"/>
          <p:cNvSpPr/>
          <p:nvPr/>
        </p:nvSpPr>
        <p:spPr>
          <a:xfrm>
            <a:off x="254000" y="8378989"/>
            <a:ext cx="16840200" cy="8295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l-PL" sz="2400" b="0" strike="noStrike" spc="-1" dirty="0" err="1">
                <a:solidFill>
                  <a:srgbClr val="000000"/>
                </a:solidFill>
                <a:latin typeface="Arial"/>
              </a:rPr>
              <a:t>Research</a:t>
            </a:r>
            <a:r>
              <a:rPr lang="pl-PL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l-PL" sz="2400" b="0" strike="noStrike" spc="-1" dirty="0" err="1">
                <a:solidFill>
                  <a:srgbClr val="000000"/>
                </a:solidFill>
                <a:latin typeface="Arial"/>
              </a:rPr>
              <a:t>project</a:t>
            </a:r>
            <a:r>
              <a:rPr lang="pl-PL" sz="2400" b="0" strike="noStrike" spc="-1" dirty="0">
                <a:solidFill>
                  <a:srgbClr val="000000"/>
                </a:solidFill>
                <a:latin typeface="Arial"/>
              </a:rPr>
              <a:t> of:  Natalia Nowak</a:t>
            </a:r>
          </a:p>
          <a:p>
            <a:pPr>
              <a:lnSpc>
                <a:spcPct val="100000"/>
              </a:lnSpc>
            </a:pP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Scientific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supervisor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: dr n. </a:t>
            </a: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tech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. inż. Agata Wilk</a:t>
            </a:r>
          </a:p>
        </p:txBody>
      </p:sp>
    </p:spTree>
    <p:extLst>
      <p:ext uri="{BB962C8B-B14F-4D97-AF65-F5344CB8AC3E}">
        <p14:creationId xmlns:p14="http://schemas.microsoft.com/office/powerpoint/2010/main" val="27229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53D46528-C3AA-038E-798A-31A0D5F16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3622383"/>
            <a:ext cx="15613380" cy="442276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l-PL" dirty="0"/>
              <a:t>Cel projektu:</a:t>
            </a:r>
          </a:p>
          <a:p>
            <a:pPr algn="ctr">
              <a:lnSpc>
                <a:spcPct val="150000"/>
              </a:lnSpc>
            </a:pPr>
            <a:r>
              <a:rPr lang="pl-PL" sz="2800" dirty="0"/>
              <a:t>Stworzenie narzędzia wspierającego dobór terapii onkologicznej pod pacjenta.</a:t>
            </a:r>
          </a:p>
          <a:p>
            <a:pPr algn="ctr">
              <a:lnSpc>
                <a:spcPct val="150000"/>
              </a:lnSpc>
            </a:pPr>
            <a:endParaRPr lang="pl-PL" dirty="0"/>
          </a:p>
          <a:p>
            <a:pPr algn="l">
              <a:lnSpc>
                <a:spcPct val="150000"/>
              </a:lnSpc>
            </a:pPr>
            <a:r>
              <a:rPr lang="pl-PL" dirty="0"/>
              <a:t>Idea:</a:t>
            </a:r>
          </a:p>
          <a:p>
            <a:pPr algn="ctr">
              <a:lnSpc>
                <a:spcPct val="150000"/>
              </a:lnSpc>
            </a:pPr>
            <a:r>
              <a:rPr lang="pl-PL" sz="2800" dirty="0"/>
              <a:t>System oparty na dużych modelach językowych (LLM), który prezentuje szczegółowe wytyczne kliniczne z wybranych oficjalnych stowarzyszeń, na podstawie opisu nowotworu pacjenta.  </a:t>
            </a:r>
          </a:p>
          <a:p>
            <a:pPr algn="ctr">
              <a:lnSpc>
                <a:spcPct val="150000"/>
              </a:lnSpc>
            </a:pPr>
            <a:endParaRPr lang="pl-PL" dirty="0"/>
          </a:p>
          <a:p>
            <a:pPr algn="ctr">
              <a:lnSpc>
                <a:spcPct val="150000"/>
              </a:lnSpc>
            </a:pPr>
            <a:r>
              <a:rPr lang="pl-PL" dirty="0"/>
              <a:t> 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EB8E0D5C-9219-EB10-7D26-0E442175CC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2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D8965BC3-01AA-3C98-B8CA-7862B3BF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813" y="2362475"/>
            <a:ext cx="13984063" cy="671883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pl-PL" sz="4000" dirty="0"/>
              <a:t>Na czym polega projekt?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CCFEF341-F568-6574-CB71-D1B627FA80D9}"/>
              </a:ext>
            </a:extLst>
          </p:cNvPr>
          <p:cNvCxnSpPr/>
          <p:nvPr/>
        </p:nvCxnSpPr>
        <p:spPr>
          <a:xfrm flipH="1">
            <a:off x="0" y="2716560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55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88F92-CB99-E52F-B1EE-DDAD49B9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BE660FA0-6355-1B22-C99B-0135AD4EB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6644" y="1210955"/>
            <a:ext cx="16050304" cy="388119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l-PL" b="1" dirty="0"/>
              <a:t>Źródła:</a:t>
            </a:r>
          </a:p>
          <a:p>
            <a:pPr algn="just">
              <a:lnSpc>
                <a:spcPct val="150000"/>
              </a:lnSpc>
            </a:pPr>
            <a:endParaRPr lang="pl-PL" b="1" dirty="0"/>
          </a:p>
          <a:p>
            <a:pPr algn="just">
              <a:lnSpc>
                <a:spcPct val="150000"/>
              </a:lnSpc>
            </a:pPr>
            <a:r>
              <a:rPr lang="pl-PL" b="1" dirty="0"/>
              <a:t>Wytyczne kliniczne ze stron oficjalnych, wybranych międzynarodowych stowarzyszeń naukowych, opracowujących wytyczne kliniczne.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dirty="0"/>
          </a:p>
          <a:p>
            <a:pPr>
              <a:lnSpc>
                <a:spcPct val="150000"/>
              </a:lnSpc>
            </a:pPr>
            <a:endParaRPr lang="pl-PL" dirty="0"/>
          </a:p>
          <a:p>
            <a:pPr lvl="1">
              <a:lnSpc>
                <a:spcPct val="150000"/>
              </a:lnSpc>
            </a:pPr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4BB09982-2BF7-10AC-2637-0936FD6E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1552" y="556320"/>
            <a:ext cx="9865096" cy="50405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pl-PL" sz="4400" dirty="0"/>
              <a:t>W jaki sposób to działa?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B4BF7EF-7010-6A96-69B7-D7EFE69AD0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3</a:t>
            </a:fld>
            <a:endParaRPr dirty="0"/>
          </a:p>
        </p:txBody>
      </p:sp>
      <p:pic>
        <p:nvPicPr>
          <p:cNvPr id="1026" name="Picture 2" descr="Czwarta edycja międzynarodowych wytycznych ESO-ESMO dotycząca leczenia  zaawansowanego raka piersi">
            <a:extLst>
              <a:ext uri="{FF2B5EF4-FFF2-40B4-BE49-F238E27FC236}">
                <a16:creationId xmlns:a16="http://schemas.microsoft.com/office/drawing/2014/main" id="{6DA82CC2-5F7B-5607-EFCF-F0760201B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6" y="6233542"/>
            <a:ext cx="435248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rajowy Ośrodek Monitorujący – KOM - Wielkopolskie Centrum Onkologii">
            <a:extLst>
              <a:ext uri="{FF2B5EF4-FFF2-40B4-BE49-F238E27FC236}">
                <a16:creationId xmlns:a16="http://schemas.microsoft.com/office/drawing/2014/main" id="{3701A518-EC4E-A226-E8B4-C525A7F8C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377" y="5871252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ERICAN THYROID ASSOCIATION SPEAKS AGAINST TRAVEL RESTRICTION AND IN FAVOR  OF GLOBAL ADVANCEMENT OF KNOWLEDGE | American Thyroid Association">
            <a:extLst>
              <a:ext uri="{FF2B5EF4-FFF2-40B4-BE49-F238E27FC236}">
                <a16:creationId xmlns:a16="http://schemas.microsoft.com/office/drawing/2014/main" id="{156A8A24-278A-896D-FBB5-3E446A8DD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0564" y="5456075"/>
            <a:ext cx="3024336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650398BB-50A2-2781-363C-79BFA7BA0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446" y="3882348"/>
            <a:ext cx="2495550" cy="1838325"/>
          </a:xfrm>
          <a:prstGeom prst="rect">
            <a:avLst/>
          </a:prstGeom>
        </p:spPr>
      </p:pic>
      <p:pic>
        <p:nvPicPr>
          <p:cNvPr id="1032" name="Picture 8" descr="NCCN Imaging Appropriate Use Criteria Published for 15 Additional Guidelines">
            <a:extLst>
              <a:ext uri="{FF2B5EF4-FFF2-40B4-BE49-F238E27FC236}">
                <a16:creationId xmlns:a16="http://schemas.microsoft.com/office/drawing/2014/main" id="{11A26A21-CC39-FDF7-1A24-725FF2B4B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618" y="3866407"/>
            <a:ext cx="4520417" cy="178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430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D9EB-9DD3-2D4F-D4AA-5B4209C7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70081CC-D297-4193-7856-D3799B03B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7236" y="6330229"/>
            <a:ext cx="9001000" cy="216066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dirty="0"/>
              <a:t>Modele LLM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dirty="0"/>
              <a:t>Wektorowa Baza Danych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dirty="0"/>
              <a:t>OCR, Poppler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dirty="0"/>
              <a:t>Architektura Interacyjnego RAG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dirty="0"/>
              <a:t>Pliki PDF z wytycznymi klinicznymi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dirty="0"/>
          </a:p>
          <a:p>
            <a:pPr>
              <a:lnSpc>
                <a:spcPct val="150000"/>
              </a:lnSpc>
            </a:pPr>
            <a:endParaRPr lang="pl-PL" dirty="0"/>
          </a:p>
          <a:p>
            <a:pPr lvl="1">
              <a:lnSpc>
                <a:spcPct val="150000"/>
              </a:lnSpc>
            </a:pPr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956AD410-373A-6F7D-F991-3516F3D4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1552" y="556320"/>
            <a:ext cx="9865096" cy="50405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pl-PL" sz="4400" dirty="0"/>
              <a:t>W jaki sposób to działa?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12C6BBB-CD9C-1A77-737F-35A0C10518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4</a:t>
            </a:fld>
            <a:endParaRPr dirty="0"/>
          </a:p>
        </p:txBody>
      </p:sp>
      <p:sp>
        <p:nvSpPr>
          <p:cNvPr id="3" name="Symbol zastępczy tekstu 1">
            <a:extLst>
              <a:ext uri="{FF2B5EF4-FFF2-40B4-BE49-F238E27FC236}">
                <a16:creationId xmlns:a16="http://schemas.microsoft.com/office/drawing/2014/main" id="{7500C65F-D301-9A85-5129-69B732431EFD}"/>
              </a:ext>
            </a:extLst>
          </p:cNvPr>
          <p:cNvSpPr txBox="1">
            <a:spLocks/>
          </p:cNvSpPr>
          <p:nvPr/>
        </p:nvSpPr>
        <p:spPr>
          <a:xfrm>
            <a:off x="867410" y="1420416"/>
            <a:ext cx="15613380" cy="75711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eaLnBrk="1" hangingPunct="1">
              <a:defRPr sz="2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b="1" kern="0" dirty="0">
                <a:solidFill>
                  <a:schemeClr val="accent2">
                    <a:lumMod val="50000"/>
                  </a:schemeClr>
                </a:solidFill>
              </a:rPr>
              <a:t>ARCHITECTURE: ITERATIVE RAG</a:t>
            </a:r>
          </a:p>
          <a:p>
            <a:pPr algn="ctr"/>
            <a:endParaRPr lang="pl-PL" b="1" kern="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pl-PL" kern="0" dirty="0">
              <a:solidFill>
                <a:schemeClr val="tx1"/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F1DDB08-C4F7-4B7A-1DF9-50678AC8A546}"/>
              </a:ext>
            </a:extLst>
          </p:cNvPr>
          <p:cNvSpPr txBox="1"/>
          <p:nvPr/>
        </p:nvSpPr>
        <p:spPr>
          <a:xfrm>
            <a:off x="1617316" y="2644552"/>
            <a:ext cx="5544616" cy="517064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latin typeface="Agency FB" panose="020B0503020202020204" pitchFamily="34" charset="0"/>
                <a:cs typeface="Miriam Fixed" panose="020B0509050101010101" pitchFamily="49" charset="-79"/>
              </a:rPr>
              <a:t>Model Bazy Wiedzy</a:t>
            </a:r>
          </a:p>
          <a:p>
            <a:pPr algn="ctr"/>
            <a:endParaRPr lang="pl-PL" sz="24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algn="ctr"/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Guidelines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 (PDF/HTML/skan)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↓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OCR (</a:t>
            </a:r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Tesseract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)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↓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Czyszczenie tekstu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↓</a:t>
            </a:r>
          </a:p>
          <a:p>
            <a:pPr algn="ctr"/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chunking</a:t>
            </a:r>
            <a:endParaRPr lang="pl-PL" sz="24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↓</a:t>
            </a:r>
          </a:p>
          <a:p>
            <a:pPr algn="ctr"/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Embedding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 LLM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↓</a:t>
            </a:r>
          </a:p>
          <a:p>
            <a:pPr algn="ctr"/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Vector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 Database</a:t>
            </a:r>
          </a:p>
          <a:p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2E8F005-0F07-2B1C-03B9-F4A0302115C2}"/>
              </a:ext>
            </a:extLst>
          </p:cNvPr>
          <p:cNvSpPr txBox="1"/>
          <p:nvPr/>
        </p:nvSpPr>
        <p:spPr>
          <a:xfrm>
            <a:off x="9968904" y="2644552"/>
            <a:ext cx="5544616" cy="517064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latin typeface="Agency FB" panose="020B0503020202020204" pitchFamily="34" charset="0"/>
                <a:cs typeface="Miriam Fixed" panose="020B0509050101010101" pitchFamily="49" charset="-79"/>
              </a:rPr>
              <a:t>Model Narzędzia</a:t>
            </a:r>
          </a:p>
          <a:p>
            <a:pPr algn="ctr"/>
            <a:endParaRPr lang="pl-PL" sz="24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Użytkownik - </a:t>
            </a:r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query</a:t>
            </a:r>
            <a:endParaRPr lang="pl-PL" sz="24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↓</a:t>
            </a:r>
          </a:p>
          <a:p>
            <a:pPr algn="ctr"/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Vector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 DB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↓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LLM – </a:t>
            </a:r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Classification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 TNM (</a:t>
            </a:r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Json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)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↓</a:t>
            </a:r>
          </a:p>
          <a:p>
            <a:pPr algn="ctr"/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Vector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 DB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↓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LLM – </a:t>
            </a:r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Guidelines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 </a:t>
            </a:r>
          </a:p>
          <a:p>
            <a:pPr algn="ctr"/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(</a:t>
            </a:r>
            <a:r>
              <a:rPr lang="pl-PL" sz="24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Json</a:t>
            </a:r>
            <a:r>
              <a:rPr lang="pl-PL" sz="2400" dirty="0">
                <a:latin typeface="Miriam Fixed" panose="020B0509050101010101" pitchFamily="49" charset="-79"/>
                <a:cs typeface="Miriam Fixed" panose="020B0509050101010101" pitchFamily="49" charset="-79"/>
              </a:rPr>
              <a:t>)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9473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261B82F-B725-0A49-CE76-8AD2BD2C1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204" y="5074535"/>
            <a:ext cx="15913768" cy="3637045"/>
          </a:xfrm>
        </p:spPr>
        <p:txBody>
          <a:bodyPr/>
          <a:lstStyle/>
          <a:p>
            <a:r>
              <a:rPr lang="pl-PL" sz="2000" dirty="0"/>
              <a:t>Wykorzystane technologie: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sz="2000" b="1" dirty="0"/>
              <a:t>Modele LLM </a:t>
            </a:r>
            <a:r>
              <a:rPr lang="pl-PL" sz="2000" dirty="0"/>
              <a:t>– generowanie tekstu, analiza tekstu medycznego, ekstrakcja informacji medycznych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sz="2000" b="1" dirty="0"/>
              <a:t>Wektorowa Baza Danych </a:t>
            </a:r>
            <a:r>
              <a:rPr lang="pl-PL" sz="2000" dirty="0"/>
              <a:t>– jedyne źródło wiedzy modeli LLM, w którym znajdują się wytyczne kliniczne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sz="2000" b="1" dirty="0"/>
              <a:t>OCR, Poppler </a:t>
            </a:r>
            <a:r>
              <a:rPr lang="pl-PL" sz="2000" dirty="0"/>
              <a:t>– odczytywanie tekstu z schematów i obrazów, tabel w wytycznych, konwersja dokumentów do formy tekstowej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sz="2000" b="1" dirty="0"/>
              <a:t>Architektura Interacyjnego RAG </a:t>
            </a:r>
            <a:r>
              <a:rPr lang="pl-PL" sz="2000" dirty="0"/>
              <a:t>– </a:t>
            </a:r>
            <a:r>
              <a:rPr lang="pl-PL" sz="2000" dirty="0">
                <a:solidFill>
                  <a:schemeClr val="tx1"/>
                </a:solidFill>
              </a:rPr>
              <a:t>w</a:t>
            </a:r>
            <a:r>
              <a:rPr lang="pl-PL" altLang="pl-PL" sz="2000" dirty="0">
                <a:solidFill>
                  <a:schemeClr val="tx1"/>
                </a:solidFill>
              </a:rPr>
              <a:t>ieloetapowe wyszukiwanie i doprecyzowanie kontekstu, poprawa jakości odpowiedzi poprzez ponowne zapytania do bazy wiedzy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sz="2000" b="1" dirty="0"/>
              <a:t>Pliki PDF z wytycznymi klinicznymi </a:t>
            </a:r>
            <a:r>
              <a:rPr lang="pl-PL" sz="2000" dirty="0"/>
              <a:t>– źródło wiedzy medycznej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dirty="0"/>
          </a:p>
          <a:p>
            <a:pPr>
              <a:lnSpc>
                <a:spcPct val="150000"/>
              </a:lnSpc>
            </a:pPr>
            <a:endParaRPr lang="pl-PL" dirty="0"/>
          </a:p>
          <a:p>
            <a:pPr lvl="1">
              <a:lnSpc>
                <a:spcPct val="150000"/>
              </a:lnSpc>
            </a:pPr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4F3BDB7D-ED91-5DB2-4C69-0D384DD3E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1552" y="556320"/>
            <a:ext cx="9865096" cy="50405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pl-PL" sz="4400" dirty="0"/>
              <a:t>W jaki sposób to działa?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29C23E6-BC6E-E0FC-2268-EF2C68DFAB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5</a:t>
            </a:fld>
            <a:endParaRPr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DFC71301-E3A4-7440-27C1-A64605530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162" y="1242955"/>
            <a:ext cx="10857875" cy="363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03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CE1C89E-7CB1-85AC-96F1-20932460F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320" y="3814125"/>
            <a:ext cx="7546467" cy="4519059"/>
          </a:xfrm>
        </p:spPr>
        <p:txBody>
          <a:bodyPr/>
          <a:lstStyle/>
          <a:p>
            <a:r>
              <a:rPr lang="pl-PL" dirty="0"/>
              <a:t>Na początku:</a:t>
            </a:r>
          </a:p>
          <a:p>
            <a:endParaRPr lang="pl-PL" dirty="0"/>
          </a:p>
          <a:p>
            <a:r>
              <a:rPr lang="pl-PL" dirty="0"/>
              <a:t>Samodzielne opracowane odpowiedzi na te samo zapytanie kierowane do systemu.</a:t>
            </a:r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W przyszłości:</a:t>
            </a:r>
          </a:p>
          <a:p>
            <a:endParaRPr lang="pl-PL" dirty="0"/>
          </a:p>
          <a:p>
            <a:r>
              <a:rPr lang="pl-PL" dirty="0"/>
              <a:t>Współpraca z lekarzem onkologiem, który przetestuje system okiem specjalisty.</a:t>
            </a:r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48FF5129-1CB2-9AB9-75CB-2CE02FCADB41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pl-PL" dirty="0"/>
              <a:t>Weryfikacja działania systemu – jak sprawdzam, czy odpowiedź jest słuszna?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70DC3AB-1334-021A-57B6-F2797BD496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6</a:t>
            </a:fld>
            <a:endParaRPr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FAC60B50-B157-C660-4B86-2C0DA1D4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526" y="2428528"/>
            <a:ext cx="5229729" cy="6207248"/>
          </a:xfrm>
          <a:prstGeom prst="rect">
            <a:avLst/>
          </a:prstGeom>
        </p:spPr>
      </p:pic>
      <p:sp>
        <p:nvSpPr>
          <p:cNvPr id="11" name="Symbol zastępczy tekstu 1">
            <a:extLst>
              <a:ext uri="{FF2B5EF4-FFF2-40B4-BE49-F238E27FC236}">
                <a16:creationId xmlns:a16="http://schemas.microsoft.com/office/drawing/2014/main" id="{7E3554EB-DB02-7DE7-41DE-1AC647CD617D}"/>
              </a:ext>
            </a:extLst>
          </p:cNvPr>
          <p:cNvSpPr txBox="1">
            <a:spLocks/>
          </p:cNvSpPr>
          <p:nvPr/>
        </p:nvSpPr>
        <p:spPr>
          <a:xfrm>
            <a:off x="283320" y="2428528"/>
            <a:ext cx="6806604" cy="10801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44000" tIns="144000" rIns="144000" bIns="18000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2000" kern="0" dirty="0">
                <a:solidFill>
                  <a:sysClr val="windowText" lastClr="000000"/>
                </a:solidFill>
              </a:rPr>
              <a:t>Odpowiedź: </a:t>
            </a:r>
          </a:p>
          <a:p>
            <a:pPr algn="ctr"/>
            <a:r>
              <a:rPr lang="pl-PL" sz="2000" b="1" dirty="0"/>
              <a:t>Human-in-the-</a:t>
            </a:r>
            <a:r>
              <a:rPr lang="pl-PL" sz="2000" b="1" dirty="0" err="1"/>
              <a:t>loop</a:t>
            </a:r>
            <a:r>
              <a:rPr lang="pl-PL" sz="2000" b="1" dirty="0"/>
              <a:t> (HITL)</a:t>
            </a:r>
            <a:r>
              <a:rPr lang="pl-PL" sz="2000" b="1" kern="0" dirty="0">
                <a:solidFill>
                  <a:sysClr val="windowText" lastClr="000000"/>
                </a:solidFill>
              </a:rPr>
              <a:t>  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2746116B-8C06-370C-AF2D-4D991ABA7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872" y="3946309"/>
            <a:ext cx="4507008" cy="337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02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1E4CA31-D63B-5540-64C6-ED995EA870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7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003E20E9-9965-0ADE-ACF7-4F5E8B9A602B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0A40FC3F-292B-9CEC-CCE8-C7CA59379349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ymbol zastępczy tekstu 1">
            <a:extLst>
              <a:ext uri="{FF2B5EF4-FFF2-40B4-BE49-F238E27FC236}">
                <a16:creationId xmlns:a16="http://schemas.microsoft.com/office/drawing/2014/main" id="{1CFE3AF8-5DE9-DF1B-6E68-6B8C7AC50436}"/>
              </a:ext>
            </a:extLst>
          </p:cNvPr>
          <p:cNvSpPr txBox="1">
            <a:spLocks/>
          </p:cNvSpPr>
          <p:nvPr/>
        </p:nvSpPr>
        <p:spPr>
          <a:xfrm>
            <a:off x="1408746" y="2860576"/>
            <a:ext cx="14530708" cy="4032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44000" tIns="144000" rIns="144000" bIns="180000" anchor="ctr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b="1" kern="0" dirty="0">
                <a:solidFill>
                  <a:sysClr val="windowText" lastClr="000000"/>
                </a:solidFill>
              </a:rPr>
              <a:t>Zapytanie użytkownika: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b="1" kern="0" dirty="0">
              <a:solidFill>
                <a:sysClr val="windowText" lastClr="000000"/>
              </a:solidFill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dirty="0"/>
              <a:t>Pacjentka 44 lata, brak narażenia na promieniowanie, brak rodzinnej historii raka tarczycy. USG: </a:t>
            </a:r>
            <a:r>
              <a:rPr lang="pl-PL" dirty="0" err="1"/>
              <a:t>hypoechogeniczna</a:t>
            </a:r>
            <a:r>
              <a:rPr lang="pl-PL" dirty="0"/>
              <a:t> zmiana wielkości 8 mm, o nieregularnych marginesach, podejrzenie </a:t>
            </a:r>
            <a:r>
              <a:rPr lang="pl-PL" dirty="0" err="1"/>
              <a:t>mikrozwapnień</a:t>
            </a:r>
            <a:r>
              <a:rPr lang="pl-PL" dirty="0"/>
              <a:t>, nie wykryto zmian w obrębie węzłów chłonnych. Wykonano biopsję cienkoigłową zmiany, zgodnie z The Bethesda System for Reporting </a:t>
            </a:r>
            <a:r>
              <a:rPr lang="pl-PL" dirty="0" err="1"/>
              <a:t>Thyroid</a:t>
            </a:r>
            <a:r>
              <a:rPr lang="pl-PL" dirty="0"/>
              <a:t> </a:t>
            </a:r>
            <a:r>
              <a:rPr lang="pl-PL" dirty="0" err="1"/>
              <a:t>Cytopathology</a:t>
            </a:r>
            <a:r>
              <a:rPr lang="pl-PL" dirty="0"/>
              <a:t> przypisano kategorię III (AUS)</a:t>
            </a:r>
            <a:endParaRPr lang="pl-PL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482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5E289-D0B6-33AE-A58D-5ED7C0172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48D695E-D121-EE80-21F3-D76871EBDB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8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B9122FD9-E516-0141-97FD-3AC094C7C4BB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006FF330-FDA1-68DE-0874-A349D2CCE4A8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E7D550F0-650B-B557-6944-22EB4A306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66" y="3410109"/>
            <a:ext cx="15984668" cy="29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40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6229-2296-C408-EF1E-8D19E38F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14D4ABC-8754-A0CD-4B22-D26652776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9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219C1046-BA6A-5DF3-331F-30D4224DC5D0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25506DBB-8408-CF68-778F-4088AEBEE6CC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F040D96A-624F-EB61-09C4-76794A7C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20" y="1304980"/>
            <a:ext cx="14860248" cy="774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5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14097-6FF4-B8EA-185B-C3692BD3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5BA3982-527B-7500-F317-B540886968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10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5276CC6E-CC94-B395-B289-F094EBD1DF76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547FB973-2346-CAD4-15E1-C096924C2679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ymbol zastępczy tekstu 1">
            <a:extLst>
              <a:ext uri="{FF2B5EF4-FFF2-40B4-BE49-F238E27FC236}">
                <a16:creationId xmlns:a16="http://schemas.microsoft.com/office/drawing/2014/main" id="{73FB0B46-5737-7C37-2A6F-ADF1D53B80A2}"/>
              </a:ext>
            </a:extLst>
          </p:cNvPr>
          <p:cNvSpPr txBox="1">
            <a:spLocks/>
          </p:cNvSpPr>
          <p:nvPr/>
        </p:nvSpPr>
        <p:spPr>
          <a:xfrm>
            <a:off x="1408746" y="2860576"/>
            <a:ext cx="14530708" cy="4032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44000" tIns="144000" rIns="144000" bIns="180000" anchor="ctr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b="1" kern="0" dirty="0">
                <a:solidFill>
                  <a:sysClr val="windowText" lastClr="000000"/>
                </a:solidFill>
              </a:rPr>
              <a:t>Zapytanie użytkownika: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b="1" kern="0" dirty="0">
              <a:solidFill>
                <a:sysClr val="windowText" lastClr="000000"/>
              </a:solidFill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dirty="0"/>
              <a:t>Pacjentka 49 lat, skierowana do lobektomii a następnie uzupełniająco do </a:t>
            </a:r>
            <a:r>
              <a:rPr lang="pl-PL" dirty="0" err="1"/>
              <a:t>tyreoidektomii</a:t>
            </a:r>
            <a:r>
              <a:rPr lang="pl-PL" dirty="0"/>
              <a:t>. Badanie histopatologiczne potwierdziło wariant pęcherzykowy raka brodawkowatego tarczycy (wielkość guza 2.8x2x1.4 cm), cechy częściowego naciekania, margines chirurgiczny wolny od nacieku raka szerokości &lt; 0.2 cm, cech </a:t>
            </a:r>
            <a:r>
              <a:rPr lang="pl-PL" dirty="0" err="1"/>
              <a:t>angioinwazji</a:t>
            </a:r>
            <a:r>
              <a:rPr lang="pl-PL" dirty="0"/>
              <a:t> nie stwierdza się. Pooperacyjne </a:t>
            </a:r>
            <a:r>
              <a:rPr lang="pl-PL" dirty="0" err="1"/>
              <a:t>Tg</a:t>
            </a:r>
            <a:r>
              <a:rPr lang="pl-PL" dirty="0"/>
              <a:t> 0.8 </a:t>
            </a:r>
            <a:r>
              <a:rPr lang="pl-PL" dirty="0" err="1"/>
              <a:t>ng</a:t>
            </a:r>
            <a:r>
              <a:rPr lang="pl-PL" dirty="0"/>
              <a:t>/</a:t>
            </a:r>
            <a:r>
              <a:rPr lang="pl-PL" dirty="0" err="1"/>
              <a:t>mL</a:t>
            </a:r>
            <a:endParaRPr lang="pl-PL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22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BDEC-071E-D5B0-AFBB-DF16D553F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E87B089-E16C-75B4-6400-A3BCCE47D3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11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FB05E023-8C09-3115-2C34-18FBCDC69330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DD5753D6-C690-3B26-589D-52A6150BF742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9EC23DB9-38BD-06BF-E2F2-A3ADE79AB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72" y="1360832"/>
            <a:ext cx="13332108" cy="568364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B70B0C40-EA46-648F-AA17-919BB084B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132" y="5308848"/>
            <a:ext cx="7466647" cy="3672408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023A57AB-619B-FEB2-9C0F-4B470C0B16D3}"/>
              </a:ext>
            </a:extLst>
          </p:cNvPr>
          <p:cNvSpPr txBox="1"/>
          <p:nvPr/>
        </p:nvSpPr>
        <p:spPr>
          <a:xfrm>
            <a:off x="321172" y="8390560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+mj-lt"/>
              </a:rPr>
              <a:t>Przykładowy błąd modelu LLM!</a:t>
            </a:r>
          </a:p>
        </p:txBody>
      </p:sp>
    </p:spTree>
    <p:extLst>
      <p:ext uri="{BB962C8B-B14F-4D97-AF65-F5344CB8AC3E}">
        <p14:creationId xmlns:p14="http://schemas.microsoft.com/office/powerpoint/2010/main" val="3715840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E9F8C-A802-0EC1-9517-78E8935E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56E66A2-F1CA-B80F-BBC4-086C065ECE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12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1157AE1A-5152-D38D-FF58-06FED6143356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A87F11F-CF02-EB66-BEA4-F7A8373541D8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ymbol zastępczy tekstu 1">
            <a:extLst>
              <a:ext uri="{FF2B5EF4-FFF2-40B4-BE49-F238E27FC236}">
                <a16:creationId xmlns:a16="http://schemas.microsoft.com/office/drawing/2014/main" id="{6CD14619-007A-A58B-03CC-06801F9C3AB5}"/>
              </a:ext>
            </a:extLst>
          </p:cNvPr>
          <p:cNvSpPr txBox="1">
            <a:spLocks/>
          </p:cNvSpPr>
          <p:nvPr/>
        </p:nvSpPr>
        <p:spPr>
          <a:xfrm>
            <a:off x="1408746" y="2860576"/>
            <a:ext cx="14530708" cy="4032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44000" tIns="144000" rIns="144000" bIns="180000" anchor="ctr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b="1" kern="0" dirty="0">
                <a:solidFill>
                  <a:sysClr val="windowText" lastClr="000000"/>
                </a:solidFill>
              </a:rPr>
              <a:t>Zapytanie użytkownika: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b="1" kern="0" dirty="0">
              <a:solidFill>
                <a:sysClr val="windowText" lastClr="000000"/>
              </a:solidFill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dirty="0"/>
              <a:t>Pacjentka w wieku 56 lat, bez znanej historii nowotworów tarczycy w rodzinie, nie zgłasza narażenia na promieniowanie. W USG pojedyncza </a:t>
            </a:r>
            <a:r>
              <a:rPr lang="pl-PL" dirty="0" err="1"/>
              <a:t>hypoechogeniczna</a:t>
            </a:r>
            <a:r>
              <a:rPr lang="pl-PL" dirty="0"/>
              <a:t> zmiana o mieszanym echu w przedniej części lewego płata tarczycy, wielkości 18 x 10 x 21mm, nie wykryto zmian w obrębie węzłów chłonnych. Wykonano biopsję cienkoigłową zmiany, zgodnie z The Bethesda System for Reporting </a:t>
            </a:r>
            <a:r>
              <a:rPr lang="pl-PL" dirty="0" err="1"/>
              <a:t>Thyroid</a:t>
            </a:r>
            <a:r>
              <a:rPr lang="pl-PL" dirty="0"/>
              <a:t> </a:t>
            </a:r>
            <a:r>
              <a:rPr lang="pl-PL" dirty="0" err="1"/>
              <a:t>Cytopathology</a:t>
            </a:r>
            <a:r>
              <a:rPr lang="pl-PL" dirty="0"/>
              <a:t> przypisano kategorię V (podejrzenie raka pęcherzykowego)</a:t>
            </a:r>
            <a:endParaRPr lang="pl-PL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822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6856-3047-E817-DBC6-ABE7C3A62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1864BC2-0ADB-54AA-7C64-54E46D3004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13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B1582682-2098-522B-8A6B-F22105C3E5F3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35F5F153-46E9-1100-24C5-B9DDC166ED7A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FF9F4B21-374D-811E-5E70-5BBEB49F7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40" y="3247797"/>
            <a:ext cx="16975919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36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0A1B7-EA6D-D529-142E-C69335D6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96A59E5-4520-3AB4-5706-85EAFA4AEE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14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2808A4F4-77B2-CCB2-ADBE-B8CD8CD1A5FB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D7CDA80F-86AE-8F75-758B-A45A21ED47DB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E976E608-7BE6-16FE-F281-49B8DEB12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28" y="1149873"/>
            <a:ext cx="15697743" cy="794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50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EC8B5-DC80-CA51-252F-AE3AAE98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44BC5FD-8148-3242-CFB9-1CB6660A73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15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E8E3336A-EB62-D317-E637-5E30ACFFA241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9638444A-E254-EFD0-7B0E-03B7758B25B7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az 3">
            <a:extLst>
              <a:ext uri="{FF2B5EF4-FFF2-40B4-BE49-F238E27FC236}">
                <a16:creationId xmlns:a16="http://schemas.microsoft.com/office/drawing/2014/main" id="{DF4D6DD3-DC21-06DE-D38A-5AAD05E25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83" y="3376403"/>
            <a:ext cx="16547234" cy="3000794"/>
          </a:xfrm>
          <a:prstGeom prst="rect">
            <a:avLst/>
          </a:prstGeom>
        </p:spPr>
      </p:pic>
      <p:sp>
        <p:nvSpPr>
          <p:cNvPr id="6" name="Symbol zastępczy tekstu 1">
            <a:extLst>
              <a:ext uri="{FF2B5EF4-FFF2-40B4-BE49-F238E27FC236}">
                <a16:creationId xmlns:a16="http://schemas.microsoft.com/office/drawing/2014/main" id="{5691BC7C-01C0-04F0-C271-5CC4348268C8}"/>
              </a:ext>
            </a:extLst>
          </p:cNvPr>
          <p:cNvSpPr txBox="1">
            <a:spLocks/>
          </p:cNvSpPr>
          <p:nvPr/>
        </p:nvSpPr>
        <p:spPr>
          <a:xfrm>
            <a:off x="410331" y="1824447"/>
            <a:ext cx="5465154" cy="8336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44000" tIns="144000" rIns="144000" bIns="180000" anchor="ctr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b="1" kern="0" dirty="0">
                <a:solidFill>
                  <a:sysClr val="windowText" lastClr="000000"/>
                </a:solidFill>
              </a:rPr>
              <a:t>2 próba tego samego zapytania:</a:t>
            </a:r>
            <a:endParaRPr lang="pl-PL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658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9134-64EC-78B8-DEFF-9A121A20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60A027D-33B6-8BCA-21FF-9FD5154B53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16</a:t>
            </a:fld>
            <a:endParaRPr dirty="0"/>
          </a:p>
        </p:txBody>
      </p:sp>
      <p:sp>
        <p:nvSpPr>
          <p:cNvPr id="8" name="Tytuł 3">
            <a:extLst>
              <a:ext uri="{FF2B5EF4-FFF2-40B4-BE49-F238E27FC236}">
                <a16:creationId xmlns:a16="http://schemas.microsoft.com/office/drawing/2014/main" id="{C404C2FF-DFD7-98DC-3C55-738DD21176B7}"/>
              </a:ext>
            </a:extLst>
          </p:cNvPr>
          <p:cNvSpPr txBox="1">
            <a:spLocks/>
          </p:cNvSpPr>
          <p:nvPr/>
        </p:nvSpPr>
        <p:spPr>
          <a:xfrm>
            <a:off x="1674813" y="385664"/>
            <a:ext cx="13984063" cy="671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4000" kern="0" dirty="0"/>
              <a:t>Wyniki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CD875C1-76FF-963B-CF8D-F06D7DB8E30C}"/>
              </a:ext>
            </a:extLst>
          </p:cNvPr>
          <p:cNvCxnSpPr/>
          <p:nvPr/>
        </p:nvCxnSpPr>
        <p:spPr>
          <a:xfrm flipH="1">
            <a:off x="0" y="739749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az 3">
            <a:extLst>
              <a:ext uri="{FF2B5EF4-FFF2-40B4-BE49-F238E27FC236}">
                <a16:creationId xmlns:a16="http://schemas.microsoft.com/office/drawing/2014/main" id="{E15E2F06-AA01-E234-B713-7E6352FDD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56" y="124272"/>
            <a:ext cx="16577792" cy="862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62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B5B6220-FC8A-17F7-6D76-25800AC9F4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17</a:t>
            </a:fld>
            <a:endParaRPr dirty="0"/>
          </a:p>
        </p:txBody>
      </p:sp>
      <p:sp>
        <p:nvSpPr>
          <p:cNvPr id="6" name="Tytuł 3">
            <a:extLst>
              <a:ext uri="{FF2B5EF4-FFF2-40B4-BE49-F238E27FC236}">
                <a16:creationId xmlns:a16="http://schemas.microsoft.com/office/drawing/2014/main" id="{329C08D2-9C48-E772-7A79-737B6B5CC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1552" y="1420416"/>
            <a:ext cx="9865096" cy="50405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pl-PL" sz="4400" dirty="0"/>
              <a:t>Dalszy rozwój projektu</a:t>
            </a:r>
          </a:p>
        </p:txBody>
      </p:sp>
      <p:sp>
        <p:nvSpPr>
          <p:cNvPr id="7" name="Symbol zastępczy zawartości 1">
            <a:extLst>
              <a:ext uri="{FF2B5EF4-FFF2-40B4-BE49-F238E27FC236}">
                <a16:creationId xmlns:a16="http://schemas.microsoft.com/office/drawing/2014/main" id="{7AAF6A52-B969-E650-7CE7-47B1D41D5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08315" y="3397869"/>
            <a:ext cx="14131570" cy="3696525"/>
          </a:xfrm>
        </p:spPr>
        <p:txBody>
          <a:bodyPr/>
          <a:lstStyle/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pl-PL" b="1" dirty="0"/>
              <a:t>Poprawa front-endu, konstrukcji JSON z wytycznymi klinicznymi,</a:t>
            </a:r>
            <a:endParaRPr lang="pl-PL" dirty="0"/>
          </a:p>
          <a:p>
            <a:pPr algn="ctr"/>
            <a:endParaRPr lang="pl-PL" dirty="0"/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pl-PL" b="1" dirty="0"/>
              <a:t>Dodanie do </a:t>
            </a:r>
            <a:r>
              <a:rPr lang="pl-PL" b="1" dirty="0" err="1"/>
              <a:t>outputu</a:t>
            </a:r>
            <a:r>
              <a:rPr lang="pl-PL" b="1" dirty="0"/>
              <a:t> informacji o </a:t>
            </a:r>
            <a:r>
              <a:rPr lang="pl-PL" b="1" dirty="0" err="1"/>
              <a:t>follow-up</a:t>
            </a:r>
            <a:r>
              <a:rPr lang="pl-PL" b="1" dirty="0"/>
              <a:t> oraz źródła – tytułu artykułu,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endParaRPr lang="pl-PL" b="1" dirty="0"/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pl-PL" b="1" dirty="0"/>
              <a:t>Dodanie klasyfikacji </a:t>
            </a:r>
            <a:r>
              <a:rPr lang="en-US" dirty="0"/>
              <a:t>The Bethesda System for Reporting Thyroid Cytopathology</a:t>
            </a:r>
            <a:endParaRPr lang="pl-PL" b="1" dirty="0"/>
          </a:p>
          <a:p>
            <a:pPr marL="342900" indent="-342900" algn="ctr">
              <a:buFont typeface="Wingdings" panose="05000000000000000000" pitchFamily="2" charset="2"/>
              <a:buChar char="ü"/>
            </a:pPr>
            <a:endParaRPr lang="pl-PL" dirty="0"/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pl-PL" b="1" dirty="0"/>
              <a:t>Konteneryzacja projektu (Docker)</a:t>
            </a:r>
            <a:endParaRPr lang="pl-PL" altLang="pl-PL" dirty="0">
              <a:solidFill>
                <a:schemeClr val="tx1"/>
              </a:solidFill>
            </a:endParaRPr>
          </a:p>
          <a:p>
            <a:pPr marL="342900" indent="-342900" algn="ctr">
              <a:buFont typeface="Wingdings" panose="05000000000000000000" pitchFamily="2" charset="2"/>
              <a:buChar char="ü"/>
            </a:pPr>
            <a:endParaRPr lang="pl-PL" dirty="0"/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pl-PL" b="1" dirty="0"/>
              <a:t>Automatyczne aktualizowanie oraz uzupełnianie wytycznych klinicznych</a:t>
            </a:r>
            <a:endParaRPr lang="pl-PL" dirty="0"/>
          </a:p>
          <a:p>
            <a:pPr lvl="1">
              <a:lnSpc>
                <a:spcPct val="150000"/>
              </a:lnSpc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54995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FCF2-25E0-24B0-887D-1D14CD39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B7D0B974-2D86-0BFD-6CA9-5270AAEFB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115" y="4300736"/>
            <a:ext cx="14745970" cy="2686227"/>
          </a:xfrm>
        </p:spPr>
        <p:txBody>
          <a:bodyPr/>
          <a:lstStyle/>
          <a:p>
            <a:pPr algn="ctr"/>
            <a:r>
              <a:rPr lang="pl-PL" sz="4400" dirty="0"/>
              <a:t>Dziękuję za uwagę</a:t>
            </a:r>
          </a:p>
        </p:txBody>
      </p:sp>
      <p:sp>
        <p:nvSpPr>
          <p:cNvPr id="5" name="Podtytuł 4">
            <a:extLst>
              <a:ext uri="{FF2B5EF4-FFF2-40B4-BE49-F238E27FC236}">
                <a16:creationId xmlns:a16="http://schemas.microsoft.com/office/drawing/2014/main" id="{7A6D1401-562E-C7B3-65EF-62F5362696A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15800" y="8261176"/>
            <a:ext cx="14916600" cy="936104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pl-PL" sz="2400" spc="-1" dirty="0">
                <a:solidFill>
                  <a:srgbClr val="000000"/>
                </a:solidFill>
                <a:latin typeface="Arial"/>
              </a:rPr>
              <a:t>D</a:t>
            </a:r>
            <a:r>
              <a:rPr lang="en-US" sz="2400" spc="-1" dirty="0" err="1">
                <a:solidFill>
                  <a:srgbClr val="000000"/>
                </a:solidFill>
                <a:latin typeface="Arial"/>
              </a:rPr>
              <a:t>epartment</a:t>
            </a:r>
            <a:r>
              <a:rPr lang="en-US" sz="2400" spc="-1" dirty="0">
                <a:solidFill>
                  <a:srgbClr val="000000"/>
                </a:solidFill>
                <a:latin typeface="Arial"/>
              </a:rPr>
              <a:t> of Biostatistics and Bioinformatics</a:t>
            </a:r>
            <a:endParaRPr lang="pl-PL" sz="2400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spcAft>
                <a:spcPts val="300"/>
              </a:spcAft>
            </a:pPr>
            <a:r>
              <a:rPr lang="pl-PL" sz="2400" spc="-1" dirty="0">
                <a:solidFill>
                  <a:srgbClr val="000000"/>
                </a:solidFill>
                <a:latin typeface="Arial"/>
              </a:rPr>
              <a:t>Dział Analiz </a:t>
            </a: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Bioinformatyczno-Biostatystycznych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 </a:t>
            </a:r>
            <a:endParaRPr lang="pl-PL" sz="2400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spcAft>
                <a:spcPts val="300"/>
              </a:spcAft>
            </a:pPr>
            <a:endParaRPr lang="pl-PL" sz="2400" b="1" dirty="0"/>
          </a:p>
        </p:txBody>
      </p:sp>
    </p:spTree>
    <p:extLst>
      <p:ext uri="{BB962C8B-B14F-4D97-AF65-F5344CB8AC3E}">
        <p14:creationId xmlns:p14="http://schemas.microsoft.com/office/powerpoint/2010/main" val="187096654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ja3" id="{4FC21289-F34E-45F9-B5E7-A582BBE57E8A}" vid="{6BF5EED0-4686-48A4-9FDD-2CFDE25DE93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dn_dab</Template>
  <TotalTime>5492</TotalTime>
  <Words>631</Words>
  <Application>Microsoft Office PowerPoint</Application>
  <PresentationFormat>Niestandardowy</PresentationFormat>
  <Paragraphs>129</Paragraphs>
  <Slides>18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5" baseType="lpstr">
      <vt:lpstr>Agency FB</vt:lpstr>
      <vt:lpstr>Arial</vt:lpstr>
      <vt:lpstr>Calibri</vt:lpstr>
      <vt:lpstr>Good Headline Pro</vt:lpstr>
      <vt:lpstr>Miriam Fixed</vt:lpstr>
      <vt:lpstr>Wingdings</vt:lpstr>
      <vt:lpstr>Motyw pakietu Office</vt:lpstr>
      <vt:lpstr>Projekt tworzony w ramach wolontariatu:  System wspomagania decyzji klinicznych z wykorzystaniem modeli językowych (LLM)  </vt:lpstr>
      <vt:lpstr>Na czym polega projekt?</vt:lpstr>
      <vt:lpstr>W jaki sposób to działa?</vt:lpstr>
      <vt:lpstr>W jaki sposób to działa?</vt:lpstr>
      <vt:lpstr>W jaki sposób to działa?</vt:lpstr>
      <vt:lpstr>Weryfikacja działania systemu – jak sprawdzam, czy odpowiedź jest słuszna?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Dalszy rozwój projektu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of research project:   tu tytuł</dc:title>
  <dc:creator>Marcela Krzempek</dc:creator>
  <cp:lastModifiedBy>Jakub Dras (jd309975)</cp:lastModifiedBy>
  <cp:revision>156</cp:revision>
  <dcterms:created xsi:type="dcterms:W3CDTF">2024-03-11T13:52:44Z</dcterms:created>
  <dcterms:modified xsi:type="dcterms:W3CDTF">2026-04-13T06:57:50Z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2020-01-31T00:00:00Z</vt:filetime>
  </property>
  <property fmtid="{D5CDD505-2E9C-101B-9397-08002B2CF9AE}" pid="3" name="Creator">
    <vt:lpwstr>Adobe InDesign 15.0 (Macintosh)</vt:lpwstr>
  </property>
  <property fmtid="{D5CDD505-2E9C-101B-9397-08002B2CF9AE}" pid="4" name="LastSaved">
    <vt:filetime>2020-01-31T00:00:00Z</vt:filetime>
  </property>
</Properties>
</file>