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7" r:id="rId2"/>
    <p:sldId id="270" r:id="rId3"/>
    <p:sldId id="321" r:id="rId4"/>
    <p:sldId id="320" r:id="rId5"/>
    <p:sldId id="283" r:id="rId6"/>
    <p:sldId id="323" r:id="rId7"/>
    <p:sldId id="322" r:id="rId8"/>
    <p:sldId id="324" r:id="rId9"/>
    <p:sldId id="325" r:id="rId10"/>
    <p:sldId id="327" r:id="rId11"/>
    <p:sldId id="328" r:id="rId12"/>
    <p:sldId id="330" r:id="rId13"/>
    <p:sldId id="331" r:id="rId14"/>
    <p:sldId id="329" r:id="rId15"/>
    <p:sldId id="326" r:id="rId16"/>
    <p:sldId id="269" r:id="rId17"/>
  </p:sldIdLst>
  <p:sldSz cx="17348200" cy="9753600"/>
  <p:notesSz cx="17348200" cy="97536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E9B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Styl pośredni 4 — Ak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Styl pośredni 2 — Ak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A488322-F2BA-4B5B-9748-0D474271808F}" styleName="Styl pośredni 3 — Ak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D7B26C5-4107-4FEC-AEDC-1716B250A1EF}" styleName="Styl jasny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Styl pośredni 2 — Ak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Styl pośredni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E3FDE45-AF77-4B5C-9715-49D594BDF05E}" styleName="Styl jasny 1 — Ak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78" autoAdjust="0"/>
    <p:restoredTop sz="96283" autoAdjust="0"/>
  </p:normalViewPr>
  <p:slideViewPr>
    <p:cSldViewPr>
      <p:cViewPr varScale="1">
        <p:scale>
          <a:sx n="76" d="100"/>
          <a:sy n="76" d="100"/>
        </p:scale>
        <p:origin x="540" y="108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49" d="100"/>
          <a:sy n="49" d="100"/>
        </p:scale>
        <p:origin x="1132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CCD8ED57-9C09-4853-A0D0-EC34CBC0895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9826625" y="0"/>
            <a:ext cx="7516813" cy="4889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6E61DE-1085-47AB-AAE3-B3539548EBA7}" type="datetimeFigureOut">
              <a:rPr lang="pl-PL" smtClean="0"/>
              <a:t>2026-04-12</a:t>
            </a:fld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69A4A421-B078-43B8-ADA6-D2DA70E5F51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9826625" y="9264650"/>
            <a:ext cx="7516813" cy="4889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3A0FAD-47BF-465E-ACFA-2AE537EA2280}" type="slidenum">
              <a:rPr lang="pl-PL" smtClean="0"/>
              <a:t>‹#›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C65FE799-56A5-4EB5-8903-44B08C793F6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264650"/>
            <a:ext cx="7516813" cy="4889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4" name="Symbol zastępczy nagłówka 3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516813" cy="4889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65120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516813" cy="4889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9826625" y="0"/>
            <a:ext cx="7516813" cy="4889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2BDDAD-0262-4D49-84E2-04283E1DDE08}" type="datetimeFigureOut">
              <a:rPr lang="pl-PL" smtClean="0"/>
              <a:t>2026-04-12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5746750" y="1219200"/>
            <a:ext cx="5854700" cy="32924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1735138" y="4694238"/>
            <a:ext cx="13877925" cy="38401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9264650"/>
            <a:ext cx="7516813" cy="4889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pl-PL" dirty="0"/>
              <a:t>www</a:t>
            </a:r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9826625" y="9264650"/>
            <a:ext cx="7516813" cy="4889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4783-92F2-4F12-9659-D20182A0DCA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633754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4783-92F2-4F12-9659-D20182A0DCA0}" type="slidenum">
              <a:rPr lang="pl-PL" smtClean="0"/>
              <a:t>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234133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448BC-14EC-A283-2597-02192C730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84EEDB91-5CC5-3711-373B-72F92C195F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B3171282-5B27-07CC-35BF-FE2FA5032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805C0E56-B6FB-1AE0-CB99-478076CE52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4783-92F2-4F12-9659-D20182A0DCA0}" type="slidenum">
              <a:rPr lang="pl-PL" smtClean="0"/>
              <a:t>16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802232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01115" y="3505200"/>
            <a:ext cx="14745970" cy="335280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defRPr sz="9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l-PL"/>
              <a:t>Kliknij, aby edytować styl</a:t>
            </a:r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602230" y="7010400"/>
            <a:ext cx="12143740" cy="137160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defRPr sz="3600">
                <a:latin typeface="Good Headline Pro"/>
                <a:cs typeface="Arial" panose="020B0604020202020204" pitchFamily="34" charset="0"/>
              </a:defRPr>
            </a:lvl1pPr>
          </a:lstStyle>
          <a:p>
            <a:r>
              <a:rPr lang="pl-PL" dirty="0"/>
              <a:t>Kliknij, aby edytować styl wzorca podtytułu</a:t>
            </a:r>
            <a:endParaRPr dirty="0"/>
          </a:p>
        </p:txBody>
      </p:sp>
      <p:pic>
        <p:nvPicPr>
          <p:cNvPr id="4" name="Obraz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00" y="533400"/>
            <a:ext cx="7574400" cy="252003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pPr lvl="0"/>
            <a:r>
              <a:rPr lang="pl-PL" dirty="0"/>
              <a:t>Kliknij, aby edytować style wzorca tekstu</a:t>
            </a:r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9E9555DC-26A5-438E-98A7-B9863F0C61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5514860" y="9296244"/>
            <a:ext cx="1479436" cy="230128"/>
          </a:xfrm>
          <a:prstGeom prst="rect">
            <a:avLst/>
          </a:prstGeom>
        </p:spPr>
        <p:txBody>
          <a:bodyPr anchor="ctr"/>
          <a:lstStyle>
            <a:lvl1pPr algn="r">
              <a:defRPr sz="1400">
                <a:latin typeface="Good Headline Pro"/>
              </a:defRPr>
            </a:lvl1pPr>
          </a:lstStyle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‹#›</a:t>
            </a:fld>
            <a:endParaRPr dirty="0"/>
          </a:p>
        </p:txBody>
      </p:sp>
      <p:sp>
        <p:nvSpPr>
          <p:cNvPr id="7" name="pole tekstowe 1"/>
          <p:cNvSpPr txBox="1">
            <a:spLocks noChangeArrowheads="1"/>
          </p:cNvSpPr>
          <p:nvPr userDrawn="1"/>
        </p:nvSpPr>
        <p:spPr bwMode="auto">
          <a:xfrm>
            <a:off x="2409404" y="9289480"/>
            <a:ext cx="4919549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l">
              <a:spcBef>
                <a:spcPct val="0"/>
              </a:spcBef>
              <a:buFontTx/>
              <a:buNone/>
            </a:pPr>
            <a:r>
              <a:rPr lang="en-US" altLang="pl-PL" sz="1400" b="0" i="0" dirty="0">
                <a:solidFill>
                  <a:prstClr val="black"/>
                </a:solidFill>
                <a:latin typeface="Good Headline Pro"/>
                <a:cs typeface="Arial" panose="020B0604020202020204" pitchFamily="34" charset="0"/>
              </a:rPr>
              <a:t>Department of Biostatistics and Bioinformatics</a:t>
            </a:r>
          </a:p>
        </p:txBody>
      </p:sp>
      <p:pic>
        <p:nvPicPr>
          <p:cNvPr id="11" name="Obraz 10">
            <a:extLst>
              <a:ext uri="{FF2B5EF4-FFF2-40B4-BE49-F238E27FC236}">
                <a16:creationId xmlns:a16="http://schemas.microsoft.com/office/drawing/2014/main" id="{6EE4E020-F140-7DD8-2FBB-AF9AE7FAA2A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1172" y="9073466"/>
            <a:ext cx="1839476" cy="612000"/>
          </a:xfrm>
          <a:prstGeom prst="rect">
            <a:avLst/>
          </a:prstGeom>
        </p:spPr>
      </p:pic>
      <p:sp>
        <p:nvSpPr>
          <p:cNvPr id="13" name="Holder 2">
            <a:extLst>
              <a:ext uri="{FF2B5EF4-FFF2-40B4-BE49-F238E27FC236}">
                <a16:creationId xmlns:a16="http://schemas.microsoft.com/office/drawing/2014/main" id="{3900F3AE-4E64-A8DE-9A05-EDE8DF73A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7410" y="412304"/>
            <a:ext cx="15613380" cy="1514856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14" name="object 3">
            <a:extLst>
              <a:ext uri="{FF2B5EF4-FFF2-40B4-BE49-F238E27FC236}">
                <a16:creationId xmlns:a16="http://schemas.microsoft.com/office/drawing/2014/main" id="{CA587BE3-D049-DD3C-822C-7213CD2EEC36}"/>
              </a:ext>
            </a:extLst>
          </p:cNvPr>
          <p:cNvSpPr/>
          <p:nvPr userDrawn="1"/>
        </p:nvSpPr>
        <p:spPr>
          <a:xfrm>
            <a:off x="2337396" y="9194800"/>
            <a:ext cx="0" cy="558800"/>
          </a:xfrm>
          <a:custGeom>
            <a:avLst/>
            <a:gdLst/>
            <a:ahLst/>
            <a:cxnLst/>
            <a:rect l="l" t="t" r="r" b="b"/>
            <a:pathLst>
              <a:path h="558800">
                <a:moveTo>
                  <a:pt x="0" y="0"/>
                </a:moveTo>
                <a:lnTo>
                  <a:pt x="0" y="558800"/>
                </a:lnTo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867410" y="2243328"/>
            <a:ext cx="7546467" cy="64373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8934323" y="2243328"/>
            <a:ext cx="7546467" cy="64373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Holder 2">
            <a:extLst>
              <a:ext uri="{FF2B5EF4-FFF2-40B4-BE49-F238E27FC236}">
                <a16:creationId xmlns:a16="http://schemas.microsoft.com/office/drawing/2014/main" id="{707AA2DD-1551-6EEA-5BEF-75425CB86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7410" y="412304"/>
            <a:ext cx="15613380" cy="1514856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defRPr/>
            </a:lvl1pPr>
          </a:lstStyle>
          <a:p>
            <a:endParaRPr dirty="0"/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5D5B9165-5AD4-B247-6701-7CA2EDB738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1172" y="9073466"/>
            <a:ext cx="1839476" cy="612000"/>
          </a:xfrm>
          <a:prstGeom prst="rect">
            <a:avLst/>
          </a:prstGeom>
        </p:spPr>
      </p:pic>
      <p:sp>
        <p:nvSpPr>
          <p:cNvPr id="8" name="pole tekstowe 1">
            <a:extLst>
              <a:ext uri="{FF2B5EF4-FFF2-40B4-BE49-F238E27FC236}">
                <a16:creationId xmlns:a16="http://schemas.microsoft.com/office/drawing/2014/main" id="{CEF51ADA-71F9-3B2B-34E5-41CD94E63A0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409404" y="9289480"/>
            <a:ext cx="4919549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l">
              <a:spcBef>
                <a:spcPct val="0"/>
              </a:spcBef>
              <a:buFontTx/>
              <a:buNone/>
            </a:pPr>
            <a:r>
              <a:rPr lang="en-US" altLang="pl-PL" sz="1400" b="0" i="0" dirty="0">
                <a:solidFill>
                  <a:prstClr val="black"/>
                </a:solidFill>
                <a:latin typeface="Good Headline Pro"/>
                <a:cs typeface="Arial" panose="020B0604020202020204" pitchFamily="34" charset="0"/>
              </a:rPr>
              <a:t>Department of Biostatistics and Bioinformatics</a:t>
            </a:r>
          </a:p>
        </p:txBody>
      </p:sp>
      <p:sp>
        <p:nvSpPr>
          <p:cNvPr id="13" name="Symbol zastępczy numeru slajdu 8">
            <a:extLst>
              <a:ext uri="{FF2B5EF4-FFF2-40B4-BE49-F238E27FC236}">
                <a16:creationId xmlns:a16="http://schemas.microsoft.com/office/drawing/2014/main" id="{BDCCCCC1-D20A-79DE-90C5-5D15C6AD35B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5514860" y="9296244"/>
            <a:ext cx="1479436" cy="230128"/>
          </a:xfrm>
          <a:prstGeom prst="rect">
            <a:avLst/>
          </a:prstGeom>
        </p:spPr>
        <p:txBody>
          <a:bodyPr anchor="ctr"/>
          <a:lstStyle>
            <a:lvl1pPr algn="r">
              <a:defRPr sz="1400">
                <a:latin typeface="Good Headline Pro"/>
              </a:defRPr>
            </a:lvl1pPr>
          </a:lstStyle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‹#›</a:t>
            </a:fld>
            <a:endParaRPr dirty="0"/>
          </a:p>
        </p:txBody>
      </p:sp>
      <p:sp>
        <p:nvSpPr>
          <p:cNvPr id="14" name="object 3">
            <a:extLst>
              <a:ext uri="{FF2B5EF4-FFF2-40B4-BE49-F238E27FC236}">
                <a16:creationId xmlns:a16="http://schemas.microsoft.com/office/drawing/2014/main" id="{01EA9B38-FD78-F901-AC2B-7CD5A18C46C3}"/>
              </a:ext>
            </a:extLst>
          </p:cNvPr>
          <p:cNvSpPr/>
          <p:nvPr userDrawn="1"/>
        </p:nvSpPr>
        <p:spPr>
          <a:xfrm>
            <a:off x="2337396" y="9194800"/>
            <a:ext cx="0" cy="558800"/>
          </a:xfrm>
          <a:custGeom>
            <a:avLst/>
            <a:gdLst/>
            <a:ahLst/>
            <a:cxnLst/>
            <a:rect l="l" t="t" r="r" b="b"/>
            <a:pathLst>
              <a:path h="558800">
                <a:moveTo>
                  <a:pt x="0" y="0"/>
                </a:moveTo>
                <a:lnTo>
                  <a:pt x="0" y="558800"/>
                </a:lnTo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older 2">
            <a:extLst>
              <a:ext uri="{FF2B5EF4-FFF2-40B4-BE49-F238E27FC236}">
                <a16:creationId xmlns:a16="http://schemas.microsoft.com/office/drawing/2014/main" id="{69667078-170C-5D90-B749-62FF27074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7410" y="412304"/>
            <a:ext cx="15613380" cy="1514856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defRPr/>
            </a:lvl1pPr>
          </a:lstStyle>
          <a:p>
            <a:endParaRPr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2AD81A9A-843C-9BB8-EA6E-A54FFFEF39A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1172" y="9073466"/>
            <a:ext cx="1839476" cy="612000"/>
          </a:xfrm>
          <a:prstGeom prst="rect">
            <a:avLst/>
          </a:prstGeom>
        </p:spPr>
      </p:pic>
      <p:sp>
        <p:nvSpPr>
          <p:cNvPr id="6" name="pole tekstowe 1">
            <a:extLst>
              <a:ext uri="{FF2B5EF4-FFF2-40B4-BE49-F238E27FC236}">
                <a16:creationId xmlns:a16="http://schemas.microsoft.com/office/drawing/2014/main" id="{101B89C4-EF01-86B5-1127-7B2205449D4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409404" y="9289480"/>
            <a:ext cx="4919549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l">
              <a:spcBef>
                <a:spcPct val="0"/>
              </a:spcBef>
              <a:buFontTx/>
              <a:buNone/>
            </a:pPr>
            <a:r>
              <a:rPr lang="en-US" altLang="pl-PL" sz="1400" b="0" i="0" dirty="0">
                <a:solidFill>
                  <a:prstClr val="black"/>
                </a:solidFill>
                <a:latin typeface="Good Headline Pro"/>
                <a:cs typeface="Arial" panose="020B0604020202020204" pitchFamily="34" charset="0"/>
              </a:rPr>
              <a:t>Department of Biostatistics and Bioinformatics</a:t>
            </a:r>
          </a:p>
        </p:txBody>
      </p:sp>
      <p:sp>
        <p:nvSpPr>
          <p:cNvPr id="11" name="Symbol zastępczy numeru slajdu 8">
            <a:extLst>
              <a:ext uri="{FF2B5EF4-FFF2-40B4-BE49-F238E27FC236}">
                <a16:creationId xmlns:a16="http://schemas.microsoft.com/office/drawing/2014/main" id="{67D32130-4461-8113-9361-93F1D6733AF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5514860" y="9296244"/>
            <a:ext cx="1479436" cy="230128"/>
          </a:xfrm>
          <a:prstGeom prst="rect">
            <a:avLst/>
          </a:prstGeom>
        </p:spPr>
        <p:txBody>
          <a:bodyPr anchor="ctr"/>
          <a:lstStyle>
            <a:lvl1pPr algn="r">
              <a:defRPr sz="1400">
                <a:latin typeface="Good Headline Pro"/>
              </a:defRPr>
            </a:lvl1pPr>
          </a:lstStyle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‹#›</a:t>
            </a:fld>
            <a:endParaRPr dirty="0"/>
          </a:p>
        </p:txBody>
      </p:sp>
      <p:sp>
        <p:nvSpPr>
          <p:cNvPr id="12" name="object 3">
            <a:extLst>
              <a:ext uri="{FF2B5EF4-FFF2-40B4-BE49-F238E27FC236}">
                <a16:creationId xmlns:a16="http://schemas.microsoft.com/office/drawing/2014/main" id="{CF975305-77B0-037D-AEDA-56CD5BFBD69F}"/>
              </a:ext>
            </a:extLst>
          </p:cNvPr>
          <p:cNvSpPr/>
          <p:nvPr userDrawn="1"/>
        </p:nvSpPr>
        <p:spPr>
          <a:xfrm>
            <a:off x="2337396" y="9194800"/>
            <a:ext cx="0" cy="558800"/>
          </a:xfrm>
          <a:custGeom>
            <a:avLst/>
            <a:gdLst/>
            <a:ahLst/>
            <a:cxnLst/>
            <a:rect l="l" t="t" r="r" b="b"/>
            <a:pathLst>
              <a:path h="558800">
                <a:moveTo>
                  <a:pt x="0" y="0"/>
                </a:moveTo>
                <a:lnTo>
                  <a:pt x="0" y="558800"/>
                </a:lnTo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>
            <a:extLst>
              <a:ext uri="{FF2B5EF4-FFF2-40B4-BE49-F238E27FC236}">
                <a16:creationId xmlns:a16="http://schemas.microsoft.com/office/drawing/2014/main" id="{AD5A7280-75A7-D5B4-04F4-2C2BBB38F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7410" y="412304"/>
            <a:ext cx="15613380" cy="1514856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defRPr/>
            </a:lvl1pPr>
          </a:lstStyle>
          <a:p>
            <a:endParaRPr dirty="0"/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69A577FE-91AF-81BC-0A36-B391C89ADA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1172" y="9073466"/>
            <a:ext cx="1839476" cy="612000"/>
          </a:xfrm>
          <a:prstGeom prst="rect">
            <a:avLst/>
          </a:prstGeom>
        </p:spPr>
      </p:pic>
      <p:sp>
        <p:nvSpPr>
          <p:cNvPr id="5" name="pole tekstowe 1">
            <a:extLst>
              <a:ext uri="{FF2B5EF4-FFF2-40B4-BE49-F238E27FC236}">
                <a16:creationId xmlns:a16="http://schemas.microsoft.com/office/drawing/2014/main" id="{9231FD59-F55E-06D7-966B-D615FC140F5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409404" y="9289480"/>
            <a:ext cx="4919549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l">
              <a:spcBef>
                <a:spcPct val="0"/>
              </a:spcBef>
              <a:buFontTx/>
              <a:buNone/>
            </a:pPr>
            <a:r>
              <a:rPr lang="en-US" altLang="pl-PL" sz="1400" b="0" i="0" dirty="0">
                <a:solidFill>
                  <a:prstClr val="black"/>
                </a:solidFill>
                <a:latin typeface="Good Headline Pro"/>
                <a:cs typeface="Arial" panose="020B0604020202020204" pitchFamily="34" charset="0"/>
              </a:rPr>
              <a:t>Department of Biostatistics and Bioinformatics</a:t>
            </a:r>
          </a:p>
        </p:txBody>
      </p:sp>
      <p:sp>
        <p:nvSpPr>
          <p:cNvPr id="8" name="Symbol zastępczy numeru slajdu 8">
            <a:extLst>
              <a:ext uri="{FF2B5EF4-FFF2-40B4-BE49-F238E27FC236}">
                <a16:creationId xmlns:a16="http://schemas.microsoft.com/office/drawing/2014/main" id="{5128D2F0-BABB-D4CC-8858-913F4C37919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5514860" y="9296244"/>
            <a:ext cx="1479436" cy="230128"/>
          </a:xfrm>
          <a:prstGeom prst="rect">
            <a:avLst/>
          </a:prstGeom>
        </p:spPr>
        <p:txBody>
          <a:bodyPr anchor="ctr"/>
          <a:lstStyle>
            <a:lvl1pPr algn="r">
              <a:defRPr sz="1400">
                <a:latin typeface="Good Headline Pro"/>
              </a:defRPr>
            </a:lvl1pPr>
          </a:lstStyle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‹#›</a:t>
            </a:fld>
            <a:endParaRPr dirty="0"/>
          </a:p>
        </p:txBody>
      </p:sp>
      <p:sp>
        <p:nvSpPr>
          <p:cNvPr id="11" name="object 3">
            <a:extLst>
              <a:ext uri="{FF2B5EF4-FFF2-40B4-BE49-F238E27FC236}">
                <a16:creationId xmlns:a16="http://schemas.microsoft.com/office/drawing/2014/main" id="{8E1BCC24-9E11-3D63-F3AD-EDF2A970E468}"/>
              </a:ext>
            </a:extLst>
          </p:cNvPr>
          <p:cNvSpPr/>
          <p:nvPr userDrawn="1"/>
        </p:nvSpPr>
        <p:spPr>
          <a:xfrm>
            <a:off x="2337396" y="9194800"/>
            <a:ext cx="0" cy="558800"/>
          </a:xfrm>
          <a:custGeom>
            <a:avLst/>
            <a:gdLst/>
            <a:ahLst/>
            <a:cxnLst/>
            <a:rect l="l" t="t" r="r" b="b"/>
            <a:pathLst>
              <a:path h="558800">
                <a:moveTo>
                  <a:pt x="0" y="0"/>
                </a:moveTo>
                <a:lnTo>
                  <a:pt x="0" y="558800"/>
                </a:lnTo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67410" y="412304"/>
            <a:ext cx="15613380" cy="1514856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67410" y="2243328"/>
            <a:ext cx="15613380" cy="6748272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defRPr/>
            </a:lvl1pPr>
          </a:lstStyle>
          <a:p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ftr="0"/>
  <p:txStyles>
    <p:titleStyle>
      <a:lvl1pPr eaLnBrk="1" hangingPunct="1">
        <a:defRPr sz="3600" b="1">
          <a:latin typeface="Good Headline Pro"/>
          <a:ea typeface="+mj-ea"/>
          <a:cs typeface="+mj-cs"/>
        </a:defRPr>
      </a:lvl1pPr>
    </p:titleStyle>
    <p:bodyStyle>
      <a:lvl1pPr marL="0" eaLnBrk="1" hangingPunct="1">
        <a:defRPr sz="2400"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eaLnBrk="1" hangingPunct="1">
        <a:defRPr>
          <a:latin typeface="+mn-lt"/>
          <a:ea typeface="+mn-ea"/>
          <a:cs typeface="+mn-cs"/>
        </a:defRPr>
      </a:lvl2pPr>
      <a:lvl3pPr marL="914400" eaLnBrk="1" hangingPunct="1">
        <a:defRPr>
          <a:latin typeface="+mn-lt"/>
          <a:ea typeface="+mn-ea"/>
          <a:cs typeface="+mn-cs"/>
        </a:defRPr>
      </a:lvl3pPr>
      <a:lvl4pPr marL="1371600" eaLnBrk="1" hangingPunct="1">
        <a:defRPr>
          <a:latin typeface="+mn-lt"/>
          <a:ea typeface="+mn-ea"/>
          <a:cs typeface="+mn-cs"/>
        </a:defRPr>
      </a:lvl4pPr>
      <a:lvl5pPr marL="1828800" eaLnBrk="1" hangingPunct="1">
        <a:defRPr>
          <a:latin typeface="+mn-lt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bodyStyle>
    <p:otherStyle>
      <a:lvl1pPr marL="0" eaLnBrk="1" hangingPunct="1">
        <a:defRPr>
          <a:latin typeface="+mn-lt"/>
          <a:ea typeface="+mn-ea"/>
          <a:cs typeface="+mn-cs"/>
        </a:defRPr>
      </a:lvl1pPr>
      <a:lvl2pPr marL="457200" eaLnBrk="1" hangingPunct="1">
        <a:defRPr>
          <a:latin typeface="+mn-lt"/>
          <a:ea typeface="+mn-ea"/>
          <a:cs typeface="+mn-cs"/>
        </a:defRPr>
      </a:lvl2pPr>
      <a:lvl3pPr marL="914400" eaLnBrk="1" hangingPunct="1">
        <a:defRPr>
          <a:latin typeface="+mn-lt"/>
          <a:ea typeface="+mn-ea"/>
          <a:cs typeface="+mn-cs"/>
        </a:defRPr>
      </a:lvl3pPr>
      <a:lvl4pPr marL="1371600" eaLnBrk="1" hangingPunct="1">
        <a:defRPr>
          <a:latin typeface="+mn-lt"/>
          <a:ea typeface="+mn-ea"/>
          <a:cs typeface="+mn-cs"/>
        </a:defRPr>
      </a:lvl4pPr>
      <a:lvl5pPr marL="1828800" eaLnBrk="1" hangingPunct="1">
        <a:defRPr>
          <a:latin typeface="+mn-lt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jpe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ytuł 3">
            <a:extLst>
              <a:ext uri="{FF2B5EF4-FFF2-40B4-BE49-F238E27FC236}">
                <a16:creationId xmlns:a16="http://schemas.microsoft.com/office/drawing/2014/main" id="{3F72D00C-5325-4C8E-9357-A7721239B2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1115" y="3076600"/>
            <a:ext cx="14745970" cy="2686227"/>
          </a:xfrm>
        </p:spPr>
        <p:txBody>
          <a:bodyPr/>
          <a:lstStyle/>
          <a:p>
            <a:pPr algn="ctr">
              <a:lnSpc>
                <a:spcPct val="150000"/>
              </a:lnSpc>
            </a:pPr>
            <a:r>
              <a:rPr lang="pl-PL" sz="3600" b="0" dirty="0"/>
              <a:t>Projekt tworzony w ramach wolontariatu:</a:t>
            </a:r>
            <a:br>
              <a:rPr lang="pl-PL" sz="3600" dirty="0"/>
            </a:br>
            <a:br>
              <a:rPr lang="pl-PL" sz="3600" dirty="0"/>
            </a:br>
            <a:r>
              <a:rPr lang="pl-PL" sz="3600" dirty="0"/>
              <a:t>System wspomagania decyzji klinicznych z wykorzystaniem modeli językowych (LLM)</a:t>
            </a:r>
            <a:br>
              <a:rPr lang="pl-PL" sz="4000" dirty="0"/>
            </a:br>
            <a:br>
              <a:rPr lang="pl-PL" sz="4000" dirty="0"/>
            </a:br>
            <a:endParaRPr lang="pl-PL" sz="4000" dirty="0"/>
          </a:p>
        </p:txBody>
      </p:sp>
      <p:sp>
        <p:nvSpPr>
          <p:cNvPr id="5" name="Podtytuł 4">
            <a:extLst>
              <a:ext uri="{FF2B5EF4-FFF2-40B4-BE49-F238E27FC236}">
                <a16:creationId xmlns:a16="http://schemas.microsoft.com/office/drawing/2014/main" id="{7FADB485-3380-4692-BDE6-605D441A7235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1215800" y="7016117"/>
            <a:ext cx="14916600" cy="1371600"/>
          </a:xfrm>
        </p:spPr>
        <p:txBody>
          <a:bodyPr/>
          <a:lstStyle/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lang="pl-PL" sz="2400" spc="-1" dirty="0">
                <a:solidFill>
                  <a:srgbClr val="000000"/>
                </a:solidFill>
                <a:latin typeface="Arial"/>
              </a:rPr>
              <a:t>D</a:t>
            </a:r>
            <a:r>
              <a:rPr lang="en-US" sz="2400" spc="-1" dirty="0" err="1">
                <a:solidFill>
                  <a:srgbClr val="000000"/>
                </a:solidFill>
                <a:latin typeface="Arial"/>
              </a:rPr>
              <a:t>epartment</a:t>
            </a:r>
            <a:r>
              <a:rPr lang="en-US" sz="2400" spc="-1" dirty="0">
                <a:solidFill>
                  <a:srgbClr val="000000"/>
                </a:solidFill>
                <a:latin typeface="Arial"/>
              </a:rPr>
              <a:t> of Biostatistics and Bioinformatics</a:t>
            </a:r>
            <a:endParaRPr lang="pl-PL" sz="2400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  <a:spcAft>
                <a:spcPts val="300"/>
              </a:spcAft>
            </a:pPr>
            <a:r>
              <a:rPr lang="pl-PL" sz="2400" spc="-1" dirty="0">
                <a:solidFill>
                  <a:srgbClr val="000000"/>
                </a:solidFill>
                <a:latin typeface="Arial"/>
              </a:rPr>
              <a:t>Dział Analiz </a:t>
            </a:r>
            <a:r>
              <a:rPr lang="pl-PL" sz="2400" spc="-1" dirty="0" err="1">
                <a:solidFill>
                  <a:srgbClr val="000000"/>
                </a:solidFill>
                <a:latin typeface="Arial"/>
              </a:rPr>
              <a:t>Bioinformatyczno-Biostatystycznych</a:t>
            </a:r>
            <a:r>
              <a:rPr lang="pl-PL" sz="2400" spc="-1" dirty="0">
                <a:solidFill>
                  <a:srgbClr val="000000"/>
                </a:solidFill>
                <a:latin typeface="Arial"/>
              </a:rPr>
              <a:t> </a:t>
            </a:r>
            <a:endParaRPr lang="pl-PL" sz="2400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  <a:spcAft>
                <a:spcPts val="300"/>
              </a:spcAft>
            </a:pPr>
            <a:endParaRPr lang="pl-PL" sz="2400" b="1" dirty="0"/>
          </a:p>
        </p:txBody>
      </p:sp>
      <p:sp>
        <p:nvSpPr>
          <p:cNvPr id="8" name="CustomShape 4"/>
          <p:cNvSpPr/>
          <p:nvPr/>
        </p:nvSpPr>
        <p:spPr>
          <a:xfrm>
            <a:off x="254000" y="8378989"/>
            <a:ext cx="16840200" cy="82954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pl-PL" sz="2400" b="0" strike="noStrike" spc="-1" dirty="0" err="1">
                <a:solidFill>
                  <a:srgbClr val="000000"/>
                </a:solidFill>
                <a:latin typeface="Arial"/>
              </a:rPr>
              <a:t>Research</a:t>
            </a:r>
            <a:r>
              <a:rPr lang="pl-PL" sz="24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pl-PL" sz="2400" b="0" strike="noStrike" spc="-1" dirty="0" err="1">
                <a:solidFill>
                  <a:srgbClr val="000000"/>
                </a:solidFill>
                <a:latin typeface="Arial"/>
              </a:rPr>
              <a:t>project</a:t>
            </a:r>
            <a:r>
              <a:rPr lang="pl-PL" sz="2400" b="0" strike="noStrike" spc="-1" dirty="0">
                <a:solidFill>
                  <a:srgbClr val="000000"/>
                </a:solidFill>
                <a:latin typeface="Arial"/>
              </a:rPr>
              <a:t> of:  Natalia Nowak</a:t>
            </a:r>
          </a:p>
          <a:p>
            <a:pPr>
              <a:lnSpc>
                <a:spcPct val="100000"/>
              </a:lnSpc>
            </a:pPr>
            <a:r>
              <a:rPr lang="pl-PL" sz="2400" spc="-1" dirty="0" err="1">
                <a:solidFill>
                  <a:srgbClr val="000000"/>
                </a:solidFill>
                <a:latin typeface="Arial"/>
              </a:rPr>
              <a:t>Scientific</a:t>
            </a:r>
            <a:r>
              <a:rPr lang="pl-PL" sz="2400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pl-PL" sz="2400" spc="-1" dirty="0" err="1">
                <a:solidFill>
                  <a:srgbClr val="000000"/>
                </a:solidFill>
                <a:latin typeface="Arial"/>
              </a:rPr>
              <a:t>supervisor</a:t>
            </a:r>
            <a:r>
              <a:rPr lang="pl-PL" sz="2400" spc="-1" dirty="0">
                <a:solidFill>
                  <a:srgbClr val="000000"/>
                </a:solidFill>
                <a:latin typeface="Arial"/>
              </a:rPr>
              <a:t>: dr n. </a:t>
            </a:r>
            <a:r>
              <a:rPr lang="pl-PL" sz="2400" spc="-1" dirty="0" err="1">
                <a:solidFill>
                  <a:srgbClr val="000000"/>
                </a:solidFill>
                <a:latin typeface="Arial"/>
              </a:rPr>
              <a:t>tech</a:t>
            </a:r>
            <a:r>
              <a:rPr lang="pl-PL" sz="2400" spc="-1" dirty="0">
                <a:solidFill>
                  <a:srgbClr val="000000"/>
                </a:solidFill>
                <a:latin typeface="Arial"/>
              </a:rPr>
              <a:t>. inż. Agata Wilk</a:t>
            </a:r>
          </a:p>
        </p:txBody>
      </p:sp>
    </p:spTree>
    <p:extLst>
      <p:ext uri="{BB962C8B-B14F-4D97-AF65-F5344CB8AC3E}">
        <p14:creationId xmlns:p14="http://schemas.microsoft.com/office/powerpoint/2010/main" val="272299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53D46528-C3AA-038E-798A-31A0D5F16D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7410" y="3622383"/>
            <a:ext cx="15613380" cy="4422768"/>
          </a:xfrm>
        </p:spPr>
        <p:txBody>
          <a:bodyPr/>
          <a:lstStyle/>
          <a:p>
            <a:pPr algn="just">
              <a:lnSpc>
                <a:spcPct val="150000"/>
              </a:lnSpc>
            </a:pPr>
            <a:r>
              <a:rPr lang="pl-PL" dirty="0"/>
              <a:t>Cel projektu:</a:t>
            </a:r>
          </a:p>
          <a:p>
            <a:pPr algn="ctr">
              <a:lnSpc>
                <a:spcPct val="150000"/>
              </a:lnSpc>
            </a:pPr>
            <a:r>
              <a:rPr lang="pl-PL" sz="2800" dirty="0"/>
              <a:t>Stworzenie narzędzia wspierającego dobór terapii onkologicznej pod pacjenta.</a:t>
            </a:r>
          </a:p>
          <a:p>
            <a:pPr algn="ctr">
              <a:lnSpc>
                <a:spcPct val="150000"/>
              </a:lnSpc>
            </a:pPr>
            <a:endParaRPr lang="pl-PL" dirty="0"/>
          </a:p>
          <a:p>
            <a:pPr algn="l">
              <a:lnSpc>
                <a:spcPct val="150000"/>
              </a:lnSpc>
            </a:pPr>
            <a:r>
              <a:rPr lang="pl-PL" dirty="0"/>
              <a:t>Idea:</a:t>
            </a:r>
          </a:p>
          <a:p>
            <a:pPr algn="ctr">
              <a:lnSpc>
                <a:spcPct val="150000"/>
              </a:lnSpc>
            </a:pPr>
            <a:r>
              <a:rPr lang="pl-PL" sz="2800" dirty="0"/>
              <a:t>System oparty na dużych modelach językowych (LLM), który prezentuje szczegółowe wytyczne kliniczne z wybranych oficjalnych stowarzyszeń, na podstawie opisu nowotworu pacjenta.  </a:t>
            </a:r>
          </a:p>
          <a:p>
            <a:pPr algn="ctr">
              <a:lnSpc>
                <a:spcPct val="150000"/>
              </a:lnSpc>
            </a:pPr>
            <a:endParaRPr lang="pl-PL" dirty="0"/>
          </a:p>
          <a:p>
            <a:pPr algn="ctr">
              <a:lnSpc>
                <a:spcPct val="150000"/>
              </a:lnSpc>
            </a:pPr>
            <a:r>
              <a:rPr lang="pl-PL" dirty="0"/>
              <a:t> </a:t>
            </a:r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EB8E0D5C-9219-EB10-7D26-0E442175CCF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2</a:t>
            </a:fld>
            <a:endParaRPr dirty="0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D8965BC3-01AA-3C98-B8CA-7862B3BFD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4813" y="2362475"/>
            <a:ext cx="13984063" cy="671883"/>
          </a:xfr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/>
            <a:r>
              <a:rPr lang="pl-PL" sz="4000" dirty="0"/>
              <a:t>Na czym polega projekt?</a:t>
            </a:r>
          </a:p>
        </p:txBody>
      </p:sp>
      <p:cxnSp>
        <p:nvCxnSpPr>
          <p:cNvPr id="5" name="Straight Connector 3">
            <a:extLst>
              <a:ext uri="{FF2B5EF4-FFF2-40B4-BE49-F238E27FC236}">
                <a16:creationId xmlns:a16="http://schemas.microsoft.com/office/drawing/2014/main" id="{CCFEF341-F568-6574-CB71-D1B627FA80D9}"/>
              </a:ext>
            </a:extLst>
          </p:cNvPr>
          <p:cNvCxnSpPr/>
          <p:nvPr/>
        </p:nvCxnSpPr>
        <p:spPr>
          <a:xfrm flipH="1">
            <a:off x="0" y="2716560"/>
            <a:ext cx="1674813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55521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88F92-CB99-E52F-B1EE-DDAD49B93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zawartości 1">
            <a:extLst>
              <a:ext uri="{FF2B5EF4-FFF2-40B4-BE49-F238E27FC236}">
                <a16:creationId xmlns:a16="http://schemas.microsoft.com/office/drawing/2014/main" id="{BE660FA0-6355-1B22-C99B-0135AD4EB1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56644" y="1210955"/>
            <a:ext cx="16050304" cy="3881191"/>
          </a:xfrm>
        </p:spPr>
        <p:txBody>
          <a:bodyPr/>
          <a:lstStyle/>
          <a:p>
            <a:pPr algn="just">
              <a:lnSpc>
                <a:spcPct val="150000"/>
              </a:lnSpc>
            </a:pPr>
            <a:r>
              <a:rPr lang="pl-PL" b="1" dirty="0"/>
              <a:t>Źródła:</a:t>
            </a:r>
          </a:p>
          <a:p>
            <a:pPr algn="just">
              <a:lnSpc>
                <a:spcPct val="150000"/>
              </a:lnSpc>
            </a:pPr>
            <a:endParaRPr lang="pl-PL" b="1" dirty="0"/>
          </a:p>
          <a:p>
            <a:pPr algn="just">
              <a:lnSpc>
                <a:spcPct val="150000"/>
              </a:lnSpc>
            </a:pPr>
            <a:r>
              <a:rPr lang="pl-PL" b="1" dirty="0"/>
              <a:t>Wytyczne kliniczne ze stron oficjalnych, wybranych międzynarodowych stowarzyszeń naukowych, opracowujących wytyczne kliniczne.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pl-PL" dirty="0"/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pl-PL" dirty="0"/>
          </a:p>
          <a:p>
            <a:pPr>
              <a:lnSpc>
                <a:spcPct val="150000"/>
              </a:lnSpc>
            </a:pPr>
            <a:endParaRPr lang="pl-PL" dirty="0"/>
          </a:p>
          <a:p>
            <a:pPr lvl="1">
              <a:lnSpc>
                <a:spcPct val="150000"/>
              </a:lnSpc>
            </a:pPr>
            <a:endParaRPr lang="pl-PL" dirty="0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4BB09982-2BF7-10AC-2637-0936FD6E6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1552" y="556320"/>
            <a:ext cx="9865096" cy="504056"/>
          </a:xfrm>
          <a:solidFill>
            <a:schemeClr val="accent2">
              <a:lumMod val="20000"/>
              <a:lumOff val="80000"/>
            </a:schemeClr>
          </a:solidFill>
        </p:spPr>
        <p:txBody>
          <a:bodyPr anchor="ctr"/>
          <a:lstStyle/>
          <a:p>
            <a:pPr algn="ctr"/>
            <a:r>
              <a:rPr lang="pl-PL" sz="4400" dirty="0"/>
              <a:t>W jaki sposób to działa?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0B4BF7EF-7010-6A96-69B7-D7EFE69AD0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3</a:t>
            </a:fld>
            <a:endParaRPr dirty="0"/>
          </a:p>
        </p:txBody>
      </p:sp>
      <p:pic>
        <p:nvPicPr>
          <p:cNvPr id="1026" name="Picture 2" descr="Czwarta edycja międzynarodowych wytycznych ESO-ESMO dotycząca leczenia  zaawansowanego raka piersi">
            <a:extLst>
              <a:ext uri="{FF2B5EF4-FFF2-40B4-BE49-F238E27FC236}">
                <a16:creationId xmlns:a16="http://schemas.microsoft.com/office/drawing/2014/main" id="{6DA82CC2-5F7B-5607-EFCF-F0760201BA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206" y="6233542"/>
            <a:ext cx="4352484" cy="2448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Krajowy Ośrodek Monitorujący – KOM - Wielkopolskie Centrum Onkologii">
            <a:extLst>
              <a:ext uri="{FF2B5EF4-FFF2-40B4-BE49-F238E27FC236}">
                <a16:creationId xmlns:a16="http://schemas.microsoft.com/office/drawing/2014/main" id="{3701A518-EC4E-A226-E8B4-C525A7F8CF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9377" y="5871252"/>
            <a:ext cx="47625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MERICAN THYROID ASSOCIATION SPEAKS AGAINST TRAVEL RESTRICTION AND IN FAVOR  OF GLOBAL ADVANCEMENT OF KNOWLEDGE | American Thyroid Association">
            <a:extLst>
              <a:ext uri="{FF2B5EF4-FFF2-40B4-BE49-F238E27FC236}">
                <a16:creationId xmlns:a16="http://schemas.microsoft.com/office/drawing/2014/main" id="{156A8A24-278A-896D-FBB5-3E446A8DDE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50564" y="5456075"/>
            <a:ext cx="3024336" cy="3024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Obraz 8">
            <a:extLst>
              <a:ext uri="{FF2B5EF4-FFF2-40B4-BE49-F238E27FC236}">
                <a16:creationId xmlns:a16="http://schemas.microsoft.com/office/drawing/2014/main" id="{650398BB-50A2-2781-363C-79BFA7BA01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58446" y="3882348"/>
            <a:ext cx="2495550" cy="1838325"/>
          </a:xfrm>
          <a:prstGeom prst="rect">
            <a:avLst/>
          </a:prstGeom>
        </p:spPr>
      </p:pic>
      <p:pic>
        <p:nvPicPr>
          <p:cNvPr id="1032" name="Picture 8" descr="NCCN Imaging Appropriate Use Criteria Published for 15 Additional Guidelines">
            <a:extLst>
              <a:ext uri="{FF2B5EF4-FFF2-40B4-BE49-F238E27FC236}">
                <a16:creationId xmlns:a16="http://schemas.microsoft.com/office/drawing/2014/main" id="{11A26A21-CC39-FDF7-1A24-725FF2B4B7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3618" y="3866407"/>
            <a:ext cx="4520417" cy="1786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5430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2D9EB-9DD3-2D4F-D4AA-5B4209C70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zawartości 1">
            <a:extLst>
              <a:ext uri="{FF2B5EF4-FFF2-40B4-BE49-F238E27FC236}">
                <a16:creationId xmlns:a16="http://schemas.microsoft.com/office/drawing/2014/main" id="{170081CC-D297-4193-7856-D3799B03B4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97236" y="6330229"/>
            <a:ext cx="9001000" cy="2160667"/>
          </a:xfrm>
        </p:spPr>
        <p:txBody>
          <a:bodyPr/>
          <a:lstStyle/>
          <a:p>
            <a:pPr marL="342900" indent="-342900">
              <a:buFont typeface="Wingdings" panose="05000000000000000000" pitchFamily="2" charset="2"/>
              <a:buChar char="ü"/>
            </a:pPr>
            <a:r>
              <a:rPr lang="pl-PL" dirty="0"/>
              <a:t>Modele LLM 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pl-PL" dirty="0"/>
              <a:t>Wektorowa Baza Danych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pl-PL" dirty="0"/>
              <a:t>OCR, Poppler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pl-PL" dirty="0"/>
              <a:t>Architektura Interacyjnego RAG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pl-PL" dirty="0"/>
              <a:t>Pliki PDF z wytycznymi klinicznymi 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pl-PL" dirty="0"/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pl-PL" dirty="0"/>
          </a:p>
          <a:p>
            <a:pPr>
              <a:lnSpc>
                <a:spcPct val="150000"/>
              </a:lnSpc>
            </a:pPr>
            <a:endParaRPr lang="pl-PL" dirty="0"/>
          </a:p>
          <a:p>
            <a:pPr lvl="1">
              <a:lnSpc>
                <a:spcPct val="150000"/>
              </a:lnSpc>
            </a:pPr>
            <a:endParaRPr lang="pl-PL" dirty="0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956AD410-373A-6F7D-F991-3516F3D40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1552" y="556320"/>
            <a:ext cx="9865096" cy="504056"/>
          </a:xfrm>
          <a:solidFill>
            <a:schemeClr val="accent2">
              <a:lumMod val="20000"/>
              <a:lumOff val="80000"/>
            </a:schemeClr>
          </a:solidFill>
        </p:spPr>
        <p:txBody>
          <a:bodyPr anchor="ctr"/>
          <a:lstStyle/>
          <a:p>
            <a:pPr algn="ctr"/>
            <a:r>
              <a:rPr lang="pl-PL" sz="4400" dirty="0"/>
              <a:t>W jaki sposób to działa?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912C6BBB-CD9C-1A77-737F-35A0C10518A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4</a:t>
            </a:fld>
            <a:endParaRPr dirty="0"/>
          </a:p>
        </p:txBody>
      </p:sp>
      <p:sp>
        <p:nvSpPr>
          <p:cNvPr id="3" name="Symbol zastępczy tekstu 1">
            <a:extLst>
              <a:ext uri="{FF2B5EF4-FFF2-40B4-BE49-F238E27FC236}">
                <a16:creationId xmlns:a16="http://schemas.microsoft.com/office/drawing/2014/main" id="{7500C65F-D301-9A85-5129-69B732431EFD}"/>
              </a:ext>
            </a:extLst>
          </p:cNvPr>
          <p:cNvSpPr txBox="1">
            <a:spLocks/>
          </p:cNvSpPr>
          <p:nvPr/>
        </p:nvSpPr>
        <p:spPr>
          <a:xfrm>
            <a:off x="867410" y="1420416"/>
            <a:ext cx="15613380" cy="757118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/>
          <a:lstStyle>
            <a:lvl1pPr marL="0" eaLnBrk="1" hangingPunct="1">
              <a:defRPr sz="24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b="1" kern="0" dirty="0">
                <a:solidFill>
                  <a:schemeClr val="accent2">
                    <a:lumMod val="50000"/>
                  </a:schemeClr>
                </a:solidFill>
              </a:rPr>
              <a:t>ARCHITECTURE: ITERATIVE RAG</a:t>
            </a:r>
          </a:p>
          <a:p>
            <a:pPr algn="ctr"/>
            <a:endParaRPr lang="pl-PL" b="1" kern="0" dirty="0">
              <a:solidFill>
                <a:schemeClr val="accent2">
                  <a:lumMod val="50000"/>
                </a:schemeClr>
              </a:solidFill>
            </a:endParaRPr>
          </a:p>
          <a:p>
            <a:pPr algn="ctr"/>
            <a:endParaRPr lang="pl-PL" kern="0" dirty="0">
              <a:solidFill>
                <a:schemeClr val="tx1"/>
              </a:solidFill>
              <a:latin typeface="Miriam Fixed" panose="020B0509050101010101" pitchFamily="49" charset="-79"/>
              <a:cs typeface="Miriam Fixed" panose="020B0509050101010101" pitchFamily="49" charset="-79"/>
            </a:endParaRP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9F1DDB08-C4F7-4B7A-1DF9-50678AC8A546}"/>
              </a:ext>
            </a:extLst>
          </p:cNvPr>
          <p:cNvSpPr txBox="1"/>
          <p:nvPr/>
        </p:nvSpPr>
        <p:spPr>
          <a:xfrm>
            <a:off x="1617316" y="2644552"/>
            <a:ext cx="5544616" cy="517064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pl-PL" sz="2400" dirty="0">
                <a:latin typeface="Agency FB" panose="020B0503020202020204" pitchFamily="34" charset="0"/>
                <a:cs typeface="Miriam Fixed" panose="020B0509050101010101" pitchFamily="49" charset="-79"/>
              </a:rPr>
              <a:t>Model Bazy Wiedzy</a:t>
            </a:r>
          </a:p>
          <a:p>
            <a:pPr algn="ctr"/>
            <a:endParaRPr lang="pl-PL" sz="2400" dirty="0">
              <a:latin typeface="Miriam Fixed" panose="020B0509050101010101" pitchFamily="49" charset="-79"/>
              <a:cs typeface="Miriam Fixed" panose="020B0509050101010101" pitchFamily="49" charset="-79"/>
            </a:endParaRPr>
          </a:p>
          <a:p>
            <a:pPr algn="ctr"/>
            <a:r>
              <a:rPr lang="pl-PL" sz="2400" dirty="0" err="1">
                <a:latin typeface="Miriam Fixed" panose="020B0509050101010101" pitchFamily="49" charset="-79"/>
                <a:cs typeface="Miriam Fixed" panose="020B0509050101010101" pitchFamily="49" charset="-79"/>
              </a:rPr>
              <a:t>Guidelines</a:t>
            </a:r>
            <a:r>
              <a:rPr lang="pl-PL" sz="2400" dirty="0">
                <a:latin typeface="Miriam Fixed" panose="020B0509050101010101" pitchFamily="49" charset="-79"/>
                <a:cs typeface="Miriam Fixed" panose="020B0509050101010101" pitchFamily="49" charset="-79"/>
              </a:rPr>
              <a:t> (PDF/HTML/skan)</a:t>
            </a:r>
          </a:p>
          <a:p>
            <a:pPr algn="ctr"/>
            <a:r>
              <a:rPr lang="pl-PL" sz="2400" dirty="0">
                <a:latin typeface="Miriam Fixed" panose="020B0509050101010101" pitchFamily="49" charset="-79"/>
                <a:cs typeface="Miriam Fixed" panose="020B0509050101010101" pitchFamily="49" charset="-79"/>
              </a:rPr>
              <a:t>↓</a:t>
            </a:r>
          </a:p>
          <a:p>
            <a:pPr algn="ctr"/>
            <a:r>
              <a:rPr lang="pl-PL" sz="2400" dirty="0">
                <a:latin typeface="Miriam Fixed" panose="020B0509050101010101" pitchFamily="49" charset="-79"/>
                <a:cs typeface="Miriam Fixed" panose="020B0509050101010101" pitchFamily="49" charset="-79"/>
              </a:rPr>
              <a:t>OCR (</a:t>
            </a:r>
            <a:r>
              <a:rPr lang="pl-PL" sz="2400" dirty="0" err="1">
                <a:latin typeface="Miriam Fixed" panose="020B0509050101010101" pitchFamily="49" charset="-79"/>
                <a:cs typeface="Miriam Fixed" panose="020B0509050101010101" pitchFamily="49" charset="-79"/>
              </a:rPr>
              <a:t>Tesseract</a:t>
            </a:r>
            <a:r>
              <a:rPr lang="pl-PL" sz="2400" dirty="0">
                <a:latin typeface="Miriam Fixed" panose="020B0509050101010101" pitchFamily="49" charset="-79"/>
                <a:cs typeface="Miriam Fixed" panose="020B0509050101010101" pitchFamily="49" charset="-79"/>
              </a:rPr>
              <a:t>)</a:t>
            </a:r>
          </a:p>
          <a:p>
            <a:pPr algn="ctr"/>
            <a:r>
              <a:rPr lang="pl-PL" sz="2400" dirty="0">
                <a:latin typeface="Miriam Fixed" panose="020B0509050101010101" pitchFamily="49" charset="-79"/>
                <a:cs typeface="Miriam Fixed" panose="020B0509050101010101" pitchFamily="49" charset="-79"/>
              </a:rPr>
              <a:t>↓</a:t>
            </a:r>
          </a:p>
          <a:p>
            <a:pPr algn="ctr"/>
            <a:r>
              <a:rPr lang="pl-PL" sz="2400" dirty="0">
                <a:latin typeface="Miriam Fixed" panose="020B0509050101010101" pitchFamily="49" charset="-79"/>
                <a:cs typeface="Miriam Fixed" panose="020B0509050101010101" pitchFamily="49" charset="-79"/>
              </a:rPr>
              <a:t>Czyszczenie tekstu</a:t>
            </a:r>
          </a:p>
          <a:p>
            <a:pPr algn="ctr"/>
            <a:r>
              <a:rPr lang="pl-PL" sz="2400" dirty="0">
                <a:latin typeface="Miriam Fixed" panose="020B0509050101010101" pitchFamily="49" charset="-79"/>
                <a:cs typeface="Miriam Fixed" panose="020B0509050101010101" pitchFamily="49" charset="-79"/>
              </a:rPr>
              <a:t>↓</a:t>
            </a:r>
          </a:p>
          <a:p>
            <a:pPr algn="ctr"/>
            <a:r>
              <a:rPr lang="pl-PL" sz="2400" dirty="0" err="1">
                <a:latin typeface="Miriam Fixed" panose="020B0509050101010101" pitchFamily="49" charset="-79"/>
                <a:cs typeface="Miriam Fixed" panose="020B0509050101010101" pitchFamily="49" charset="-79"/>
              </a:rPr>
              <a:t>chunking</a:t>
            </a:r>
            <a:endParaRPr lang="pl-PL" sz="2400" dirty="0">
              <a:latin typeface="Miriam Fixed" panose="020B0509050101010101" pitchFamily="49" charset="-79"/>
              <a:cs typeface="Miriam Fixed" panose="020B0509050101010101" pitchFamily="49" charset="-79"/>
            </a:endParaRPr>
          </a:p>
          <a:p>
            <a:pPr algn="ctr"/>
            <a:r>
              <a:rPr lang="pl-PL" sz="2400" dirty="0">
                <a:latin typeface="Miriam Fixed" panose="020B0509050101010101" pitchFamily="49" charset="-79"/>
                <a:cs typeface="Miriam Fixed" panose="020B0509050101010101" pitchFamily="49" charset="-79"/>
              </a:rPr>
              <a:t>↓</a:t>
            </a:r>
          </a:p>
          <a:p>
            <a:pPr algn="ctr"/>
            <a:r>
              <a:rPr lang="pl-PL" sz="2400" dirty="0" err="1">
                <a:latin typeface="Miriam Fixed" panose="020B0509050101010101" pitchFamily="49" charset="-79"/>
                <a:cs typeface="Miriam Fixed" panose="020B0509050101010101" pitchFamily="49" charset="-79"/>
              </a:rPr>
              <a:t>Embedding</a:t>
            </a:r>
            <a:r>
              <a:rPr lang="pl-PL" sz="2400" dirty="0">
                <a:latin typeface="Miriam Fixed" panose="020B0509050101010101" pitchFamily="49" charset="-79"/>
                <a:cs typeface="Miriam Fixed" panose="020B0509050101010101" pitchFamily="49" charset="-79"/>
              </a:rPr>
              <a:t> LLM</a:t>
            </a:r>
          </a:p>
          <a:p>
            <a:pPr algn="ctr"/>
            <a:r>
              <a:rPr lang="pl-PL" sz="2400" dirty="0">
                <a:latin typeface="Miriam Fixed" panose="020B0509050101010101" pitchFamily="49" charset="-79"/>
                <a:cs typeface="Miriam Fixed" panose="020B0509050101010101" pitchFamily="49" charset="-79"/>
              </a:rPr>
              <a:t>↓</a:t>
            </a:r>
          </a:p>
          <a:p>
            <a:pPr algn="ctr"/>
            <a:r>
              <a:rPr lang="pl-PL" sz="2400" dirty="0" err="1">
                <a:latin typeface="Miriam Fixed" panose="020B0509050101010101" pitchFamily="49" charset="-79"/>
                <a:cs typeface="Miriam Fixed" panose="020B0509050101010101" pitchFamily="49" charset="-79"/>
              </a:rPr>
              <a:t>Vector</a:t>
            </a:r>
            <a:r>
              <a:rPr lang="pl-PL" sz="2400" dirty="0">
                <a:latin typeface="Miriam Fixed" panose="020B0509050101010101" pitchFamily="49" charset="-79"/>
                <a:cs typeface="Miriam Fixed" panose="020B0509050101010101" pitchFamily="49" charset="-79"/>
              </a:rPr>
              <a:t> Database</a:t>
            </a:r>
          </a:p>
          <a:p>
            <a:endParaRPr lang="pl-PL" dirty="0"/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E2E8F005-0F07-2B1C-03B9-F4A0302115C2}"/>
              </a:ext>
            </a:extLst>
          </p:cNvPr>
          <p:cNvSpPr txBox="1"/>
          <p:nvPr/>
        </p:nvSpPr>
        <p:spPr>
          <a:xfrm>
            <a:off x="9968904" y="2644552"/>
            <a:ext cx="5544616" cy="517064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pl-PL" sz="2400" dirty="0">
                <a:latin typeface="Agency FB" panose="020B0503020202020204" pitchFamily="34" charset="0"/>
                <a:cs typeface="Miriam Fixed" panose="020B0509050101010101" pitchFamily="49" charset="-79"/>
              </a:rPr>
              <a:t>Model Narzędzia</a:t>
            </a:r>
          </a:p>
          <a:p>
            <a:pPr algn="ctr"/>
            <a:endParaRPr lang="pl-PL" sz="2400" dirty="0">
              <a:latin typeface="Miriam Fixed" panose="020B0509050101010101" pitchFamily="49" charset="-79"/>
              <a:cs typeface="Miriam Fixed" panose="020B0509050101010101" pitchFamily="49" charset="-79"/>
            </a:endParaRPr>
          </a:p>
          <a:p>
            <a:pPr algn="ctr"/>
            <a:r>
              <a:rPr lang="pl-PL" sz="2400" dirty="0">
                <a:latin typeface="Miriam Fixed" panose="020B0509050101010101" pitchFamily="49" charset="-79"/>
                <a:cs typeface="Miriam Fixed" panose="020B0509050101010101" pitchFamily="49" charset="-79"/>
              </a:rPr>
              <a:t>Użytkownik - </a:t>
            </a:r>
            <a:r>
              <a:rPr lang="pl-PL" sz="2400" dirty="0" err="1">
                <a:latin typeface="Miriam Fixed" panose="020B0509050101010101" pitchFamily="49" charset="-79"/>
                <a:cs typeface="Miriam Fixed" panose="020B0509050101010101" pitchFamily="49" charset="-79"/>
              </a:rPr>
              <a:t>query</a:t>
            </a:r>
            <a:endParaRPr lang="pl-PL" sz="2400" dirty="0">
              <a:latin typeface="Miriam Fixed" panose="020B0509050101010101" pitchFamily="49" charset="-79"/>
              <a:cs typeface="Miriam Fixed" panose="020B0509050101010101" pitchFamily="49" charset="-79"/>
            </a:endParaRPr>
          </a:p>
          <a:p>
            <a:pPr algn="ctr"/>
            <a:r>
              <a:rPr lang="pl-PL" sz="2400" dirty="0">
                <a:latin typeface="Miriam Fixed" panose="020B0509050101010101" pitchFamily="49" charset="-79"/>
                <a:cs typeface="Miriam Fixed" panose="020B0509050101010101" pitchFamily="49" charset="-79"/>
              </a:rPr>
              <a:t>↓</a:t>
            </a:r>
          </a:p>
          <a:p>
            <a:pPr algn="ctr"/>
            <a:r>
              <a:rPr lang="pl-PL" sz="2400" dirty="0" err="1">
                <a:latin typeface="Miriam Fixed" panose="020B0509050101010101" pitchFamily="49" charset="-79"/>
                <a:cs typeface="Miriam Fixed" panose="020B0509050101010101" pitchFamily="49" charset="-79"/>
              </a:rPr>
              <a:t>Vector</a:t>
            </a:r>
            <a:r>
              <a:rPr lang="pl-PL" sz="2400" dirty="0">
                <a:latin typeface="Miriam Fixed" panose="020B0509050101010101" pitchFamily="49" charset="-79"/>
                <a:cs typeface="Miriam Fixed" panose="020B0509050101010101" pitchFamily="49" charset="-79"/>
              </a:rPr>
              <a:t> DB</a:t>
            </a:r>
          </a:p>
          <a:p>
            <a:pPr algn="ctr"/>
            <a:r>
              <a:rPr lang="pl-PL" sz="2400" dirty="0">
                <a:latin typeface="Miriam Fixed" panose="020B0509050101010101" pitchFamily="49" charset="-79"/>
                <a:cs typeface="Miriam Fixed" panose="020B0509050101010101" pitchFamily="49" charset="-79"/>
              </a:rPr>
              <a:t>↓</a:t>
            </a:r>
          </a:p>
          <a:p>
            <a:pPr algn="ctr"/>
            <a:r>
              <a:rPr lang="pl-PL" sz="2400" dirty="0">
                <a:latin typeface="Miriam Fixed" panose="020B0509050101010101" pitchFamily="49" charset="-79"/>
                <a:cs typeface="Miriam Fixed" panose="020B0509050101010101" pitchFamily="49" charset="-79"/>
              </a:rPr>
              <a:t>LLM – </a:t>
            </a:r>
            <a:r>
              <a:rPr lang="pl-PL" sz="2400" dirty="0" err="1">
                <a:latin typeface="Miriam Fixed" panose="020B0509050101010101" pitchFamily="49" charset="-79"/>
                <a:cs typeface="Miriam Fixed" panose="020B0509050101010101" pitchFamily="49" charset="-79"/>
              </a:rPr>
              <a:t>Classification</a:t>
            </a:r>
            <a:r>
              <a:rPr lang="pl-PL" sz="2400" dirty="0">
                <a:latin typeface="Miriam Fixed" panose="020B0509050101010101" pitchFamily="49" charset="-79"/>
                <a:cs typeface="Miriam Fixed" panose="020B0509050101010101" pitchFamily="49" charset="-79"/>
              </a:rPr>
              <a:t> TNM (</a:t>
            </a:r>
            <a:r>
              <a:rPr lang="pl-PL" sz="2400" dirty="0" err="1">
                <a:latin typeface="Miriam Fixed" panose="020B0509050101010101" pitchFamily="49" charset="-79"/>
                <a:cs typeface="Miriam Fixed" panose="020B0509050101010101" pitchFamily="49" charset="-79"/>
              </a:rPr>
              <a:t>Json</a:t>
            </a:r>
            <a:r>
              <a:rPr lang="pl-PL" sz="2400" dirty="0">
                <a:latin typeface="Miriam Fixed" panose="020B0509050101010101" pitchFamily="49" charset="-79"/>
                <a:cs typeface="Miriam Fixed" panose="020B0509050101010101" pitchFamily="49" charset="-79"/>
              </a:rPr>
              <a:t>)</a:t>
            </a:r>
          </a:p>
          <a:p>
            <a:pPr algn="ctr"/>
            <a:r>
              <a:rPr lang="pl-PL" sz="2400" dirty="0">
                <a:latin typeface="Miriam Fixed" panose="020B0509050101010101" pitchFamily="49" charset="-79"/>
                <a:cs typeface="Miriam Fixed" panose="020B0509050101010101" pitchFamily="49" charset="-79"/>
              </a:rPr>
              <a:t>↓</a:t>
            </a:r>
          </a:p>
          <a:p>
            <a:pPr algn="ctr"/>
            <a:r>
              <a:rPr lang="pl-PL" sz="2400" dirty="0" err="1">
                <a:latin typeface="Miriam Fixed" panose="020B0509050101010101" pitchFamily="49" charset="-79"/>
                <a:cs typeface="Miriam Fixed" panose="020B0509050101010101" pitchFamily="49" charset="-79"/>
              </a:rPr>
              <a:t>Vector</a:t>
            </a:r>
            <a:r>
              <a:rPr lang="pl-PL" sz="2400" dirty="0">
                <a:latin typeface="Miriam Fixed" panose="020B0509050101010101" pitchFamily="49" charset="-79"/>
                <a:cs typeface="Miriam Fixed" panose="020B0509050101010101" pitchFamily="49" charset="-79"/>
              </a:rPr>
              <a:t> DB</a:t>
            </a:r>
          </a:p>
          <a:p>
            <a:pPr algn="ctr"/>
            <a:r>
              <a:rPr lang="pl-PL" sz="2400" dirty="0">
                <a:latin typeface="Miriam Fixed" panose="020B0509050101010101" pitchFamily="49" charset="-79"/>
                <a:cs typeface="Miriam Fixed" panose="020B0509050101010101" pitchFamily="49" charset="-79"/>
              </a:rPr>
              <a:t>↓</a:t>
            </a:r>
          </a:p>
          <a:p>
            <a:pPr algn="ctr"/>
            <a:r>
              <a:rPr lang="pl-PL" sz="2400" dirty="0">
                <a:latin typeface="Miriam Fixed" panose="020B0509050101010101" pitchFamily="49" charset="-79"/>
                <a:cs typeface="Miriam Fixed" panose="020B0509050101010101" pitchFamily="49" charset="-79"/>
              </a:rPr>
              <a:t>LLM – </a:t>
            </a:r>
            <a:r>
              <a:rPr lang="pl-PL" sz="2400" dirty="0" err="1">
                <a:latin typeface="Miriam Fixed" panose="020B0509050101010101" pitchFamily="49" charset="-79"/>
                <a:cs typeface="Miriam Fixed" panose="020B0509050101010101" pitchFamily="49" charset="-79"/>
              </a:rPr>
              <a:t>Guidelines</a:t>
            </a:r>
            <a:r>
              <a:rPr lang="pl-PL" sz="2400" dirty="0">
                <a:latin typeface="Miriam Fixed" panose="020B0509050101010101" pitchFamily="49" charset="-79"/>
                <a:cs typeface="Miriam Fixed" panose="020B0509050101010101" pitchFamily="49" charset="-79"/>
              </a:rPr>
              <a:t> </a:t>
            </a:r>
          </a:p>
          <a:p>
            <a:pPr algn="ctr"/>
            <a:r>
              <a:rPr lang="pl-PL" sz="2400" dirty="0">
                <a:latin typeface="Miriam Fixed" panose="020B0509050101010101" pitchFamily="49" charset="-79"/>
                <a:cs typeface="Miriam Fixed" panose="020B0509050101010101" pitchFamily="49" charset="-79"/>
              </a:rPr>
              <a:t>(</a:t>
            </a:r>
            <a:r>
              <a:rPr lang="pl-PL" sz="2400" dirty="0" err="1">
                <a:latin typeface="Miriam Fixed" panose="020B0509050101010101" pitchFamily="49" charset="-79"/>
                <a:cs typeface="Miriam Fixed" panose="020B0509050101010101" pitchFamily="49" charset="-79"/>
              </a:rPr>
              <a:t>Json</a:t>
            </a:r>
            <a:r>
              <a:rPr lang="pl-PL" sz="2400" dirty="0">
                <a:latin typeface="Miriam Fixed" panose="020B0509050101010101" pitchFamily="49" charset="-79"/>
                <a:cs typeface="Miriam Fixed" panose="020B0509050101010101" pitchFamily="49" charset="-79"/>
              </a:rPr>
              <a:t>)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3947352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zawartości 1">
            <a:extLst>
              <a:ext uri="{FF2B5EF4-FFF2-40B4-BE49-F238E27FC236}">
                <a16:creationId xmlns:a16="http://schemas.microsoft.com/office/drawing/2014/main" id="{6261B82F-B725-0A49-CE76-8AD2BD2C1D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204" y="5074535"/>
            <a:ext cx="15913768" cy="3637045"/>
          </a:xfrm>
        </p:spPr>
        <p:txBody>
          <a:bodyPr/>
          <a:lstStyle/>
          <a:p>
            <a:r>
              <a:rPr lang="pl-PL" sz="2000" dirty="0"/>
              <a:t>Wykorzystane technologie: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pl-PL" sz="2000" b="1" dirty="0"/>
              <a:t>Modele LLM </a:t>
            </a:r>
            <a:r>
              <a:rPr lang="pl-PL" sz="2000" dirty="0"/>
              <a:t>– generowanie tekstu, analiza tekstu medycznego, ekstrakcja informacji medycznych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pl-PL" sz="2000" dirty="0"/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pl-PL" sz="2000" b="1" dirty="0"/>
              <a:t>Wektorowa Baza Danych </a:t>
            </a:r>
            <a:r>
              <a:rPr lang="pl-PL" sz="2000" dirty="0"/>
              <a:t>– jedyne źródło wiedzy modeli LLM, w którym znajdują się wytyczne kliniczne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pl-PL" sz="2000" dirty="0"/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pl-PL" sz="2000" b="1" dirty="0"/>
              <a:t>OCR, Poppler </a:t>
            </a:r>
            <a:r>
              <a:rPr lang="pl-PL" sz="2000" dirty="0"/>
              <a:t>– odczytywanie tekstu z schematów i obrazów, tabel w wytycznych, konwersja dokumentów do formy tekstowej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pl-PL" sz="2000" dirty="0"/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pl-PL" sz="2000" b="1" dirty="0"/>
              <a:t>Architektura Interacyjnego RAG </a:t>
            </a:r>
            <a:r>
              <a:rPr lang="pl-PL" sz="2000" dirty="0"/>
              <a:t>– </a:t>
            </a:r>
            <a:r>
              <a:rPr lang="pl-PL" sz="2000" dirty="0">
                <a:solidFill>
                  <a:schemeClr val="tx1"/>
                </a:solidFill>
              </a:rPr>
              <a:t>w</a:t>
            </a:r>
            <a:r>
              <a:rPr lang="pl-PL" altLang="pl-PL" sz="2000" dirty="0">
                <a:solidFill>
                  <a:schemeClr val="tx1"/>
                </a:solidFill>
              </a:rPr>
              <a:t>ieloetapowe wyszukiwanie i doprecyzowanie kontekstu, poprawa jakości odpowiedzi poprzez ponowne zapytania do bazy wiedzy 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pl-PL" sz="2000" dirty="0"/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pl-PL" sz="2000" b="1" dirty="0"/>
              <a:t>Pliki PDF z wytycznymi klinicznymi </a:t>
            </a:r>
            <a:r>
              <a:rPr lang="pl-PL" sz="2000" dirty="0"/>
              <a:t>– źródło wiedzy medycznej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pl-PL" dirty="0"/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pl-PL" dirty="0"/>
          </a:p>
          <a:p>
            <a:pPr>
              <a:lnSpc>
                <a:spcPct val="150000"/>
              </a:lnSpc>
            </a:pPr>
            <a:endParaRPr lang="pl-PL" dirty="0"/>
          </a:p>
          <a:p>
            <a:pPr lvl="1">
              <a:lnSpc>
                <a:spcPct val="150000"/>
              </a:lnSpc>
            </a:pPr>
            <a:endParaRPr lang="pl-PL" dirty="0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4F3BDB7D-ED91-5DB2-4C69-0D384DD3E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1552" y="556320"/>
            <a:ext cx="9865096" cy="504056"/>
          </a:xfrm>
          <a:solidFill>
            <a:schemeClr val="accent2">
              <a:lumMod val="20000"/>
              <a:lumOff val="80000"/>
            </a:schemeClr>
          </a:solidFill>
        </p:spPr>
        <p:txBody>
          <a:bodyPr anchor="ctr"/>
          <a:lstStyle/>
          <a:p>
            <a:pPr algn="ctr"/>
            <a:r>
              <a:rPr lang="pl-PL" sz="4400" dirty="0"/>
              <a:t>W jaki sposób to działa?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529C23E6-BC6E-E0FC-2268-EF2C68DFABB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5</a:t>
            </a:fld>
            <a:endParaRPr dirty="0"/>
          </a:p>
        </p:txBody>
      </p:sp>
      <p:pic>
        <p:nvPicPr>
          <p:cNvPr id="9" name="Obraz 8">
            <a:extLst>
              <a:ext uri="{FF2B5EF4-FFF2-40B4-BE49-F238E27FC236}">
                <a16:creationId xmlns:a16="http://schemas.microsoft.com/office/drawing/2014/main" id="{DFC71301-E3A4-7440-27C1-A646055308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5162" y="1242955"/>
            <a:ext cx="10857875" cy="3637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9039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zawartości 1">
            <a:extLst>
              <a:ext uri="{FF2B5EF4-FFF2-40B4-BE49-F238E27FC236}">
                <a16:creationId xmlns:a16="http://schemas.microsoft.com/office/drawing/2014/main" id="{ECE1C89E-7CB1-85AC-96F1-20932460F3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83320" y="3814125"/>
            <a:ext cx="7546467" cy="4519059"/>
          </a:xfrm>
        </p:spPr>
        <p:txBody>
          <a:bodyPr/>
          <a:lstStyle/>
          <a:p>
            <a:r>
              <a:rPr lang="pl-PL" dirty="0"/>
              <a:t>Na początku:</a:t>
            </a:r>
          </a:p>
          <a:p>
            <a:endParaRPr lang="pl-PL" dirty="0"/>
          </a:p>
          <a:p>
            <a:r>
              <a:rPr lang="pl-PL" dirty="0"/>
              <a:t>Samodzielne opracowane odpowiedzi na te samo zapytanie kierowane do systemu.</a:t>
            </a:r>
          </a:p>
          <a:p>
            <a:endParaRPr lang="pl-PL" dirty="0"/>
          </a:p>
          <a:p>
            <a:endParaRPr lang="pl-PL" dirty="0"/>
          </a:p>
          <a:p>
            <a:r>
              <a:rPr lang="pl-PL" dirty="0"/>
              <a:t>W przyszłości:</a:t>
            </a:r>
          </a:p>
          <a:p>
            <a:endParaRPr lang="pl-PL" dirty="0"/>
          </a:p>
          <a:p>
            <a:r>
              <a:rPr lang="pl-PL" dirty="0"/>
              <a:t>Współpraca z lekarzem onkologiem, który przetestuje system okiem specjalisty.</a:t>
            </a:r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48FF5129-1CB2-9AB9-75CB-2CE02FCADB41}"/>
              </a:ext>
            </a:extLst>
          </p:cNvPr>
          <p:cNvSpPr>
            <a:spLocks noGrp="1"/>
          </p:cNvSpPr>
          <p:nvPr>
            <p:ph type="title"/>
          </p:nvPr>
        </p:nvSpPr>
        <p:spPr/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/>
            <a:r>
              <a:rPr lang="pl-PL" dirty="0"/>
              <a:t>Weryfikacja działania systemu – jak sprawdzam, czy odpowiedź jest słuszna?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70DC3AB-1334-021A-57B6-F2797BD4966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6</a:t>
            </a:fld>
            <a:endParaRPr dirty="0"/>
          </a:p>
        </p:txBody>
      </p:sp>
      <p:pic>
        <p:nvPicPr>
          <p:cNvPr id="9" name="Obraz 8">
            <a:extLst>
              <a:ext uri="{FF2B5EF4-FFF2-40B4-BE49-F238E27FC236}">
                <a16:creationId xmlns:a16="http://schemas.microsoft.com/office/drawing/2014/main" id="{FAC60B50-B157-C660-4B86-2C0DA1D48B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9526" y="2428528"/>
            <a:ext cx="5229729" cy="6207248"/>
          </a:xfrm>
          <a:prstGeom prst="rect">
            <a:avLst/>
          </a:prstGeom>
        </p:spPr>
      </p:pic>
      <p:sp>
        <p:nvSpPr>
          <p:cNvPr id="11" name="Symbol zastępczy tekstu 1">
            <a:extLst>
              <a:ext uri="{FF2B5EF4-FFF2-40B4-BE49-F238E27FC236}">
                <a16:creationId xmlns:a16="http://schemas.microsoft.com/office/drawing/2014/main" id="{7E3554EB-DB02-7DE7-41DE-1AC647CD617D}"/>
              </a:ext>
            </a:extLst>
          </p:cNvPr>
          <p:cNvSpPr txBox="1">
            <a:spLocks/>
          </p:cNvSpPr>
          <p:nvPr/>
        </p:nvSpPr>
        <p:spPr>
          <a:xfrm>
            <a:off x="283320" y="2428528"/>
            <a:ext cx="6806604" cy="108011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lIns="144000" tIns="144000" rIns="144000" bIns="180000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pl-PL" sz="2000" kern="0" dirty="0">
                <a:solidFill>
                  <a:sysClr val="windowText" lastClr="000000"/>
                </a:solidFill>
              </a:rPr>
              <a:t>Odpowiedź: </a:t>
            </a:r>
          </a:p>
          <a:p>
            <a:pPr algn="ctr"/>
            <a:r>
              <a:rPr lang="pl-PL" sz="2000" b="1" dirty="0"/>
              <a:t>Human-in-the-</a:t>
            </a:r>
            <a:r>
              <a:rPr lang="pl-PL" sz="2000" b="1" dirty="0" err="1"/>
              <a:t>loop</a:t>
            </a:r>
            <a:r>
              <a:rPr lang="pl-PL" sz="2000" b="1" dirty="0"/>
              <a:t> (HITL)</a:t>
            </a:r>
            <a:r>
              <a:rPr lang="pl-PL" sz="2000" b="1" kern="0" dirty="0">
                <a:solidFill>
                  <a:sysClr val="windowText" lastClr="000000"/>
                </a:solidFill>
              </a:rPr>
              <a:t>  </a:t>
            </a:r>
          </a:p>
        </p:txBody>
      </p:sp>
      <p:pic>
        <p:nvPicPr>
          <p:cNvPr id="13" name="Obraz 12">
            <a:extLst>
              <a:ext uri="{FF2B5EF4-FFF2-40B4-BE49-F238E27FC236}">
                <a16:creationId xmlns:a16="http://schemas.microsoft.com/office/drawing/2014/main" id="{2746116B-8C06-370C-AF2D-4D991ABA7F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57872" y="3946309"/>
            <a:ext cx="4507008" cy="3378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7025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A1E4CA31-D63B-5540-64C6-ED995EA870D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7</a:t>
            </a:fld>
            <a:endParaRPr dirty="0"/>
          </a:p>
        </p:txBody>
      </p:sp>
      <p:sp>
        <p:nvSpPr>
          <p:cNvPr id="8" name="Tytuł 3">
            <a:extLst>
              <a:ext uri="{FF2B5EF4-FFF2-40B4-BE49-F238E27FC236}">
                <a16:creationId xmlns:a16="http://schemas.microsoft.com/office/drawing/2014/main" id="{003E20E9-9965-0ADE-ACF7-4F5E8B9A602B}"/>
              </a:ext>
            </a:extLst>
          </p:cNvPr>
          <p:cNvSpPr txBox="1">
            <a:spLocks/>
          </p:cNvSpPr>
          <p:nvPr/>
        </p:nvSpPr>
        <p:spPr>
          <a:xfrm>
            <a:off x="1674813" y="385664"/>
            <a:ext cx="13984063" cy="67188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lIns="0" tIns="0" rIns="0" bIns="0" anchor="ctr">
            <a:noAutofit/>
          </a:bodyPr>
          <a:lstStyle>
            <a:lvl1pPr eaLnBrk="1" hangingPunct="1">
              <a:defRPr sz="3600" b="1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sz="4000" kern="0" dirty="0"/>
              <a:t>Wyniki</a:t>
            </a:r>
          </a:p>
        </p:txBody>
      </p:sp>
      <p:cxnSp>
        <p:nvCxnSpPr>
          <p:cNvPr id="9" name="Straight Connector 3">
            <a:extLst>
              <a:ext uri="{FF2B5EF4-FFF2-40B4-BE49-F238E27FC236}">
                <a16:creationId xmlns:a16="http://schemas.microsoft.com/office/drawing/2014/main" id="{0A40FC3F-292B-9CEC-CCE8-C7CA59379349}"/>
              </a:ext>
            </a:extLst>
          </p:cNvPr>
          <p:cNvCxnSpPr/>
          <p:nvPr/>
        </p:nvCxnSpPr>
        <p:spPr>
          <a:xfrm flipH="1">
            <a:off x="0" y="739749"/>
            <a:ext cx="1674813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Symbol zastępczy tekstu 1">
            <a:extLst>
              <a:ext uri="{FF2B5EF4-FFF2-40B4-BE49-F238E27FC236}">
                <a16:creationId xmlns:a16="http://schemas.microsoft.com/office/drawing/2014/main" id="{1CFE3AF8-5DE9-DF1B-6E68-6B8C7AC50436}"/>
              </a:ext>
            </a:extLst>
          </p:cNvPr>
          <p:cNvSpPr txBox="1">
            <a:spLocks/>
          </p:cNvSpPr>
          <p:nvPr/>
        </p:nvSpPr>
        <p:spPr>
          <a:xfrm>
            <a:off x="1408746" y="2860576"/>
            <a:ext cx="14530708" cy="403244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lIns="144000" tIns="144000" rIns="144000" bIns="180000" anchor="ctr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l-PL" b="1" kern="0" dirty="0">
                <a:solidFill>
                  <a:sysClr val="windowText" lastClr="000000"/>
                </a:solidFill>
              </a:rPr>
              <a:t>Zapytanie użytkownika: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endParaRPr lang="pl-PL" b="1" kern="0" dirty="0">
              <a:solidFill>
                <a:sysClr val="windowText" lastClr="000000"/>
              </a:solidFill>
            </a:endParaRPr>
          </a:p>
          <a:p>
            <a:pPr lvl="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l-PL" dirty="0"/>
              <a:t>Pacjentka 44 lata, brak narażenia na promieniowanie, brak rodzinnej historii raka tarczycy. USG: </a:t>
            </a:r>
            <a:r>
              <a:rPr lang="pl-PL" dirty="0" err="1"/>
              <a:t>hypoechogeniczna</a:t>
            </a:r>
            <a:r>
              <a:rPr lang="pl-PL" dirty="0"/>
              <a:t> zmiana wielkości 8 mm, o nieregularnych marginesach, podejrzenie </a:t>
            </a:r>
            <a:r>
              <a:rPr lang="pl-PL" dirty="0" err="1"/>
              <a:t>mikrozwapnień</a:t>
            </a:r>
            <a:r>
              <a:rPr lang="pl-PL" dirty="0"/>
              <a:t>, nie wykryto zmian w obrębie węzłów chłonnych. Wykonano biopsję cienkoigłową zmiany, zgodnie z The Bethesda System for Reporting </a:t>
            </a:r>
            <a:r>
              <a:rPr lang="pl-PL" dirty="0" err="1"/>
              <a:t>Thyroid</a:t>
            </a:r>
            <a:r>
              <a:rPr lang="pl-PL" dirty="0"/>
              <a:t> </a:t>
            </a:r>
            <a:r>
              <a:rPr lang="pl-PL" dirty="0" err="1"/>
              <a:t>Cytopathology</a:t>
            </a:r>
            <a:r>
              <a:rPr lang="pl-PL" dirty="0"/>
              <a:t> przypisano kategorię III (AUS)</a:t>
            </a:r>
            <a:endParaRPr lang="pl-PL" kern="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74821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5E289-D0B6-33AE-A58D-5ED7C0172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C48D695E-D121-EE80-21F3-D76871EBDBA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8</a:t>
            </a:fld>
            <a:endParaRPr dirty="0"/>
          </a:p>
        </p:txBody>
      </p:sp>
      <p:sp>
        <p:nvSpPr>
          <p:cNvPr id="8" name="Tytuł 3">
            <a:extLst>
              <a:ext uri="{FF2B5EF4-FFF2-40B4-BE49-F238E27FC236}">
                <a16:creationId xmlns:a16="http://schemas.microsoft.com/office/drawing/2014/main" id="{B9122FD9-E516-0141-97FD-3AC094C7C4BB}"/>
              </a:ext>
            </a:extLst>
          </p:cNvPr>
          <p:cNvSpPr txBox="1">
            <a:spLocks/>
          </p:cNvSpPr>
          <p:nvPr/>
        </p:nvSpPr>
        <p:spPr>
          <a:xfrm>
            <a:off x="1674813" y="385664"/>
            <a:ext cx="13984063" cy="67188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lIns="0" tIns="0" rIns="0" bIns="0" anchor="ctr">
            <a:noAutofit/>
          </a:bodyPr>
          <a:lstStyle>
            <a:lvl1pPr eaLnBrk="1" hangingPunct="1">
              <a:defRPr sz="3600" b="1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sz="4000" kern="0" dirty="0"/>
              <a:t>Wyniki</a:t>
            </a:r>
          </a:p>
        </p:txBody>
      </p:sp>
      <p:cxnSp>
        <p:nvCxnSpPr>
          <p:cNvPr id="9" name="Straight Connector 3">
            <a:extLst>
              <a:ext uri="{FF2B5EF4-FFF2-40B4-BE49-F238E27FC236}">
                <a16:creationId xmlns:a16="http://schemas.microsoft.com/office/drawing/2014/main" id="{006FF330-FDA1-68DE-0874-A349D2CCE4A8}"/>
              </a:ext>
            </a:extLst>
          </p:cNvPr>
          <p:cNvCxnSpPr/>
          <p:nvPr/>
        </p:nvCxnSpPr>
        <p:spPr>
          <a:xfrm flipH="1">
            <a:off x="0" y="739749"/>
            <a:ext cx="1674813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Obraz 5">
            <a:extLst>
              <a:ext uri="{FF2B5EF4-FFF2-40B4-BE49-F238E27FC236}">
                <a16:creationId xmlns:a16="http://schemas.microsoft.com/office/drawing/2014/main" id="{E7D550F0-650B-B557-6944-22EB4A306B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766" y="3410109"/>
            <a:ext cx="15984668" cy="2933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1402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B6229-2296-C408-EF1E-8D19E38F75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A14D4ABC-8754-A0CD-4B22-D2665277618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9</a:t>
            </a:fld>
            <a:endParaRPr dirty="0"/>
          </a:p>
        </p:txBody>
      </p:sp>
      <p:sp>
        <p:nvSpPr>
          <p:cNvPr id="8" name="Tytuł 3">
            <a:extLst>
              <a:ext uri="{FF2B5EF4-FFF2-40B4-BE49-F238E27FC236}">
                <a16:creationId xmlns:a16="http://schemas.microsoft.com/office/drawing/2014/main" id="{219C1046-BA6A-5DF3-331F-30D4224DC5D0}"/>
              </a:ext>
            </a:extLst>
          </p:cNvPr>
          <p:cNvSpPr txBox="1">
            <a:spLocks/>
          </p:cNvSpPr>
          <p:nvPr/>
        </p:nvSpPr>
        <p:spPr>
          <a:xfrm>
            <a:off x="1674813" y="385664"/>
            <a:ext cx="13984063" cy="67188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lIns="0" tIns="0" rIns="0" bIns="0" anchor="ctr">
            <a:noAutofit/>
          </a:bodyPr>
          <a:lstStyle>
            <a:lvl1pPr eaLnBrk="1" hangingPunct="1">
              <a:defRPr sz="3600" b="1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sz="4000" kern="0" dirty="0"/>
              <a:t>Wyniki</a:t>
            </a:r>
          </a:p>
        </p:txBody>
      </p:sp>
      <p:cxnSp>
        <p:nvCxnSpPr>
          <p:cNvPr id="9" name="Straight Connector 3">
            <a:extLst>
              <a:ext uri="{FF2B5EF4-FFF2-40B4-BE49-F238E27FC236}">
                <a16:creationId xmlns:a16="http://schemas.microsoft.com/office/drawing/2014/main" id="{25506DBB-8408-CF68-778F-4088AEBEE6CC}"/>
              </a:ext>
            </a:extLst>
          </p:cNvPr>
          <p:cNvCxnSpPr/>
          <p:nvPr/>
        </p:nvCxnSpPr>
        <p:spPr>
          <a:xfrm flipH="1">
            <a:off x="0" y="739749"/>
            <a:ext cx="1674813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Obraz 2">
            <a:extLst>
              <a:ext uri="{FF2B5EF4-FFF2-40B4-BE49-F238E27FC236}">
                <a16:creationId xmlns:a16="http://schemas.microsoft.com/office/drawing/2014/main" id="{F040D96A-624F-EB61-09C4-76794A7CE8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6720" y="1304980"/>
            <a:ext cx="14860248" cy="7743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6537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14097-6FF4-B8EA-185B-C3692BD3E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A5BA3982-527B-7500-F317-B5408869681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10</a:t>
            </a:fld>
            <a:endParaRPr dirty="0"/>
          </a:p>
        </p:txBody>
      </p:sp>
      <p:sp>
        <p:nvSpPr>
          <p:cNvPr id="8" name="Tytuł 3">
            <a:extLst>
              <a:ext uri="{FF2B5EF4-FFF2-40B4-BE49-F238E27FC236}">
                <a16:creationId xmlns:a16="http://schemas.microsoft.com/office/drawing/2014/main" id="{5276CC6E-CC94-B395-B289-F094EBD1DF76}"/>
              </a:ext>
            </a:extLst>
          </p:cNvPr>
          <p:cNvSpPr txBox="1">
            <a:spLocks/>
          </p:cNvSpPr>
          <p:nvPr/>
        </p:nvSpPr>
        <p:spPr>
          <a:xfrm>
            <a:off x="1674813" y="385664"/>
            <a:ext cx="13984063" cy="67188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lIns="0" tIns="0" rIns="0" bIns="0" anchor="ctr">
            <a:noAutofit/>
          </a:bodyPr>
          <a:lstStyle>
            <a:lvl1pPr eaLnBrk="1" hangingPunct="1">
              <a:defRPr sz="3600" b="1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sz="4000" kern="0" dirty="0"/>
              <a:t>Wyniki</a:t>
            </a:r>
          </a:p>
        </p:txBody>
      </p:sp>
      <p:cxnSp>
        <p:nvCxnSpPr>
          <p:cNvPr id="9" name="Straight Connector 3">
            <a:extLst>
              <a:ext uri="{FF2B5EF4-FFF2-40B4-BE49-F238E27FC236}">
                <a16:creationId xmlns:a16="http://schemas.microsoft.com/office/drawing/2014/main" id="{547FB973-2346-CAD4-15E1-C096924C2679}"/>
              </a:ext>
            </a:extLst>
          </p:cNvPr>
          <p:cNvCxnSpPr/>
          <p:nvPr/>
        </p:nvCxnSpPr>
        <p:spPr>
          <a:xfrm flipH="1">
            <a:off x="0" y="739749"/>
            <a:ext cx="1674813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Symbol zastępczy tekstu 1">
            <a:extLst>
              <a:ext uri="{FF2B5EF4-FFF2-40B4-BE49-F238E27FC236}">
                <a16:creationId xmlns:a16="http://schemas.microsoft.com/office/drawing/2014/main" id="{73FB0B46-5737-7C37-2A6F-ADF1D53B80A2}"/>
              </a:ext>
            </a:extLst>
          </p:cNvPr>
          <p:cNvSpPr txBox="1">
            <a:spLocks/>
          </p:cNvSpPr>
          <p:nvPr/>
        </p:nvSpPr>
        <p:spPr>
          <a:xfrm>
            <a:off x="1408746" y="2860576"/>
            <a:ext cx="14530708" cy="403244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lIns="144000" tIns="144000" rIns="144000" bIns="180000" anchor="ctr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l-PL" b="1" kern="0" dirty="0">
                <a:solidFill>
                  <a:sysClr val="windowText" lastClr="000000"/>
                </a:solidFill>
              </a:rPr>
              <a:t>Zapytanie użytkownika: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endParaRPr lang="pl-PL" b="1" kern="0" dirty="0">
              <a:solidFill>
                <a:sysClr val="windowText" lastClr="000000"/>
              </a:solidFill>
            </a:endParaRPr>
          </a:p>
          <a:p>
            <a:pPr lvl="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l-PL" dirty="0"/>
              <a:t>Pacjentka 49 lat, skierowana do lobektomii a następnie uzupełniająco do </a:t>
            </a:r>
            <a:r>
              <a:rPr lang="pl-PL" dirty="0" err="1"/>
              <a:t>tyreoidektomii</a:t>
            </a:r>
            <a:r>
              <a:rPr lang="pl-PL" dirty="0"/>
              <a:t>. Badanie histopatologiczne potwierdziło wariant pęcherzykowy raka brodawkowatego tarczycy (wielkość guza 2.8x2x1.4 cm), cechy częściowego naciekania, margines chirurgiczny wolny od nacieku raka szerokości &lt; 0.2 cm, cech </a:t>
            </a:r>
            <a:r>
              <a:rPr lang="pl-PL" dirty="0" err="1"/>
              <a:t>angioinwazji</a:t>
            </a:r>
            <a:r>
              <a:rPr lang="pl-PL" dirty="0"/>
              <a:t> nie stwierdza się. Pooperacyjne </a:t>
            </a:r>
            <a:r>
              <a:rPr lang="pl-PL" dirty="0" err="1"/>
              <a:t>Tg</a:t>
            </a:r>
            <a:r>
              <a:rPr lang="pl-PL" dirty="0"/>
              <a:t> 0.8 </a:t>
            </a:r>
            <a:r>
              <a:rPr lang="pl-PL" dirty="0" err="1"/>
              <a:t>ng</a:t>
            </a:r>
            <a:r>
              <a:rPr lang="pl-PL" dirty="0"/>
              <a:t>/</a:t>
            </a:r>
            <a:r>
              <a:rPr lang="pl-PL" dirty="0" err="1"/>
              <a:t>mL</a:t>
            </a:r>
            <a:endParaRPr lang="pl-PL" kern="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68222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6BDEC-071E-D5B0-AFBB-DF16D553F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2E87B089-E16C-75B4-6400-A3BCCE47D3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11</a:t>
            </a:fld>
            <a:endParaRPr dirty="0"/>
          </a:p>
        </p:txBody>
      </p:sp>
      <p:sp>
        <p:nvSpPr>
          <p:cNvPr id="8" name="Tytuł 3">
            <a:extLst>
              <a:ext uri="{FF2B5EF4-FFF2-40B4-BE49-F238E27FC236}">
                <a16:creationId xmlns:a16="http://schemas.microsoft.com/office/drawing/2014/main" id="{FB05E023-8C09-3115-2C34-18FBCDC69330}"/>
              </a:ext>
            </a:extLst>
          </p:cNvPr>
          <p:cNvSpPr txBox="1">
            <a:spLocks/>
          </p:cNvSpPr>
          <p:nvPr/>
        </p:nvSpPr>
        <p:spPr>
          <a:xfrm>
            <a:off x="1674813" y="385664"/>
            <a:ext cx="13984063" cy="67188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lIns="0" tIns="0" rIns="0" bIns="0" anchor="ctr">
            <a:noAutofit/>
          </a:bodyPr>
          <a:lstStyle>
            <a:lvl1pPr eaLnBrk="1" hangingPunct="1">
              <a:defRPr sz="3600" b="1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sz="4000" kern="0" dirty="0"/>
              <a:t>Wyniki</a:t>
            </a:r>
          </a:p>
        </p:txBody>
      </p:sp>
      <p:cxnSp>
        <p:nvCxnSpPr>
          <p:cNvPr id="9" name="Straight Connector 3">
            <a:extLst>
              <a:ext uri="{FF2B5EF4-FFF2-40B4-BE49-F238E27FC236}">
                <a16:creationId xmlns:a16="http://schemas.microsoft.com/office/drawing/2014/main" id="{DD5753D6-C690-3B26-589D-52A6150BF742}"/>
              </a:ext>
            </a:extLst>
          </p:cNvPr>
          <p:cNvCxnSpPr/>
          <p:nvPr/>
        </p:nvCxnSpPr>
        <p:spPr>
          <a:xfrm flipH="1">
            <a:off x="0" y="739749"/>
            <a:ext cx="1674813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Obraz 2">
            <a:extLst>
              <a:ext uri="{FF2B5EF4-FFF2-40B4-BE49-F238E27FC236}">
                <a16:creationId xmlns:a16="http://schemas.microsoft.com/office/drawing/2014/main" id="{9EC23DB9-38BD-06BF-E2F2-A3ADE79AB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172" y="1360832"/>
            <a:ext cx="13332108" cy="5683649"/>
          </a:xfrm>
          <a:prstGeom prst="rect">
            <a:avLst/>
          </a:prstGeom>
        </p:spPr>
      </p:pic>
      <p:pic>
        <p:nvPicPr>
          <p:cNvPr id="7" name="Obraz 6">
            <a:extLst>
              <a:ext uri="{FF2B5EF4-FFF2-40B4-BE49-F238E27FC236}">
                <a16:creationId xmlns:a16="http://schemas.microsoft.com/office/drawing/2014/main" id="{B70B0C40-EA46-648F-AA17-919BB084BE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2132" y="5308848"/>
            <a:ext cx="7466647" cy="3672408"/>
          </a:xfrm>
          <a:prstGeom prst="rect">
            <a:avLst/>
          </a:prstGeom>
        </p:spPr>
      </p:pic>
      <p:sp>
        <p:nvSpPr>
          <p:cNvPr id="10" name="pole tekstowe 9">
            <a:extLst>
              <a:ext uri="{FF2B5EF4-FFF2-40B4-BE49-F238E27FC236}">
                <a16:creationId xmlns:a16="http://schemas.microsoft.com/office/drawing/2014/main" id="{023A57AB-619B-FEB2-9C0F-4B470C0B16D3}"/>
              </a:ext>
            </a:extLst>
          </p:cNvPr>
          <p:cNvSpPr txBox="1"/>
          <p:nvPr/>
        </p:nvSpPr>
        <p:spPr>
          <a:xfrm>
            <a:off x="321172" y="8390560"/>
            <a:ext cx="45365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400" dirty="0">
                <a:latin typeface="+mj-lt"/>
              </a:rPr>
              <a:t>Przykładowy błąd modelu LLM!</a:t>
            </a:r>
          </a:p>
        </p:txBody>
      </p:sp>
    </p:spTree>
    <p:extLst>
      <p:ext uri="{BB962C8B-B14F-4D97-AF65-F5344CB8AC3E}">
        <p14:creationId xmlns:p14="http://schemas.microsoft.com/office/powerpoint/2010/main" val="37158408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E9F8C-A802-0EC1-9517-78E8935E5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E56E66A2-F1CA-B80F-BBC4-086C065ECED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12</a:t>
            </a:fld>
            <a:endParaRPr dirty="0"/>
          </a:p>
        </p:txBody>
      </p:sp>
      <p:sp>
        <p:nvSpPr>
          <p:cNvPr id="8" name="Tytuł 3">
            <a:extLst>
              <a:ext uri="{FF2B5EF4-FFF2-40B4-BE49-F238E27FC236}">
                <a16:creationId xmlns:a16="http://schemas.microsoft.com/office/drawing/2014/main" id="{1157AE1A-5152-D38D-FF58-06FED6143356}"/>
              </a:ext>
            </a:extLst>
          </p:cNvPr>
          <p:cNvSpPr txBox="1">
            <a:spLocks/>
          </p:cNvSpPr>
          <p:nvPr/>
        </p:nvSpPr>
        <p:spPr>
          <a:xfrm>
            <a:off x="1674813" y="385664"/>
            <a:ext cx="13984063" cy="67188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lIns="0" tIns="0" rIns="0" bIns="0" anchor="ctr">
            <a:noAutofit/>
          </a:bodyPr>
          <a:lstStyle>
            <a:lvl1pPr eaLnBrk="1" hangingPunct="1">
              <a:defRPr sz="3600" b="1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sz="4000" kern="0" dirty="0"/>
              <a:t>Wyniki</a:t>
            </a:r>
          </a:p>
        </p:txBody>
      </p:sp>
      <p:cxnSp>
        <p:nvCxnSpPr>
          <p:cNvPr id="9" name="Straight Connector 3">
            <a:extLst>
              <a:ext uri="{FF2B5EF4-FFF2-40B4-BE49-F238E27FC236}">
                <a16:creationId xmlns:a16="http://schemas.microsoft.com/office/drawing/2014/main" id="{6A87F11F-CF02-EB66-BEA4-F7A8373541D8}"/>
              </a:ext>
            </a:extLst>
          </p:cNvPr>
          <p:cNvCxnSpPr/>
          <p:nvPr/>
        </p:nvCxnSpPr>
        <p:spPr>
          <a:xfrm flipH="1">
            <a:off x="0" y="739749"/>
            <a:ext cx="1674813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Symbol zastępczy tekstu 1">
            <a:extLst>
              <a:ext uri="{FF2B5EF4-FFF2-40B4-BE49-F238E27FC236}">
                <a16:creationId xmlns:a16="http://schemas.microsoft.com/office/drawing/2014/main" id="{6CD14619-007A-A58B-03CC-06801F9C3AB5}"/>
              </a:ext>
            </a:extLst>
          </p:cNvPr>
          <p:cNvSpPr txBox="1">
            <a:spLocks/>
          </p:cNvSpPr>
          <p:nvPr/>
        </p:nvSpPr>
        <p:spPr>
          <a:xfrm>
            <a:off x="1408746" y="2860576"/>
            <a:ext cx="14530708" cy="403244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lIns="144000" tIns="144000" rIns="144000" bIns="180000" anchor="ctr">
            <a:noAutofit/>
          </a:bodyPr>
          <a:lstStyle>
            <a:lvl1pPr marL="0" eaLnBrk="1" hangingPunct="1">
              <a:defRPr sz="24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eaLnBrk="1" hangingPunct="1">
              <a:defRPr>
                <a:latin typeface="+mn-lt"/>
                <a:ea typeface="+mn-ea"/>
                <a:cs typeface="+mn-cs"/>
              </a:defRPr>
            </a:lvl2pPr>
            <a:lvl3pPr marL="914400" eaLnBrk="1" hangingPunct="1">
              <a:defRPr>
                <a:latin typeface="+mn-lt"/>
                <a:ea typeface="+mn-ea"/>
                <a:cs typeface="+mn-cs"/>
              </a:defRPr>
            </a:lvl3pPr>
            <a:lvl4pPr marL="1371600" eaLnBrk="1" hangingPunct="1">
              <a:defRPr>
                <a:latin typeface="+mn-lt"/>
                <a:ea typeface="+mn-ea"/>
                <a:cs typeface="+mn-cs"/>
              </a:defRPr>
            </a:lvl4pPr>
            <a:lvl5pPr marL="1828800" eaLnBrk="1" hangingPunct="1">
              <a:defRPr>
                <a:latin typeface="+mn-lt"/>
                <a:ea typeface="+mn-ea"/>
                <a:cs typeface="+mn-cs"/>
              </a:defRPr>
            </a:lvl5pPr>
            <a:lvl6pPr marL="2286000" eaLnBrk="1" hangingPunct="1">
              <a:defRPr>
                <a:latin typeface="+mn-lt"/>
                <a:ea typeface="+mn-ea"/>
                <a:cs typeface="+mn-cs"/>
              </a:defRPr>
            </a:lvl6pPr>
            <a:lvl7pPr marL="2743200" eaLnBrk="1" hangingPunct="1">
              <a:defRPr>
                <a:latin typeface="+mn-lt"/>
                <a:ea typeface="+mn-ea"/>
                <a:cs typeface="+mn-cs"/>
              </a:defRPr>
            </a:lvl7pPr>
            <a:lvl8pPr marL="3200400" eaLnBrk="1" hangingPunct="1">
              <a:defRPr>
                <a:latin typeface="+mn-lt"/>
                <a:ea typeface="+mn-ea"/>
                <a:cs typeface="+mn-cs"/>
              </a:defRPr>
            </a:lvl8pPr>
            <a:lvl9pPr marL="3657600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l-PL" b="1" kern="0" dirty="0">
                <a:solidFill>
                  <a:sysClr val="windowText" lastClr="000000"/>
                </a:solidFill>
              </a:rPr>
              <a:t>Zapytanie użytkownika: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endParaRPr lang="pl-PL" b="1" kern="0" dirty="0">
              <a:solidFill>
                <a:sysClr val="windowText" lastClr="000000"/>
              </a:solidFill>
            </a:endParaRPr>
          </a:p>
          <a:p>
            <a:pPr lvl="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l-PL" dirty="0"/>
              <a:t>Pacjentka w wieku 56 lat, bez znanej historii nowotworów tarczycy w rodzinie, nie zgłasza narażenia na promieniowanie. W USG pojedyncza </a:t>
            </a:r>
            <a:r>
              <a:rPr lang="pl-PL" dirty="0" err="1"/>
              <a:t>hypoechogeniczna</a:t>
            </a:r>
            <a:r>
              <a:rPr lang="pl-PL" dirty="0"/>
              <a:t> zmiana o mieszanym echu w przedniej części lewego płata tarczycy, wielkości 18 x 10 x 21mm, nie wykryto zmian w obrębie węzłów chłonnych. Wykonano biopsję cienkoigłową zmiany, zgodnie z The Bethesda System for Reporting </a:t>
            </a:r>
            <a:r>
              <a:rPr lang="pl-PL" dirty="0" err="1"/>
              <a:t>Thyroid</a:t>
            </a:r>
            <a:r>
              <a:rPr lang="pl-PL" dirty="0"/>
              <a:t> </a:t>
            </a:r>
            <a:r>
              <a:rPr lang="pl-PL" dirty="0" err="1"/>
              <a:t>Cytopathology</a:t>
            </a:r>
            <a:r>
              <a:rPr lang="pl-PL" dirty="0"/>
              <a:t> przypisano kategorię V (podejrzenie raka pęcherzykowego)</a:t>
            </a:r>
            <a:endParaRPr lang="pl-PL" kern="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28228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76856-3047-E817-DBC6-ABE7C3A62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01864BC2-0ADB-54AA-7C64-54E46D3004E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13</a:t>
            </a:fld>
            <a:endParaRPr dirty="0"/>
          </a:p>
        </p:txBody>
      </p:sp>
      <p:sp>
        <p:nvSpPr>
          <p:cNvPr id="8" name="Tytuł 3">
            <a:extLst>
              <a:ext uri="{FF2B5EF4-FFF2-40B4-BE49-F238E27FC236}">
                <a16:creationId xmlns:a16="http://schemas.microsoft.com/office/drawing/2014/main" id="{B1582682-2098-522B-8A6B-F22105C3E5F3}"/>
              </a:ext>
            </a:extLst>
          </p:cNvPr>
          <p:cNvSpPr txBox="1">
            <a:spLocks/>
          </p:cNvSpPr>
          <p:nvPr/>
        </p:nvSpPr>
        <p:spPr>
          <a:xfrm>
            <a:off x="1674813" y="385664"/>
            <a:ext cx="13984063" cy="67188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lIns="0" tIns="0" rIns="0" bIns="0" anchor="ctr">
            <a:noAutofit/>
          </a:bodyPr>
          <a:lstStyle>
            <a:lvl1pPr eaLnBrk="1" hangingPunct="1">
              <a:defRPr sz="3600" b="1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sz="4000" kern="0" dirty="0"/>
              <a:t>Wyniki</a:t>
            </a:r>
          </a:p>
        </p:txBody>
      </p:sp>
      <p:cxnSp>
        <p:nvCxnSpPr>
          <p:cNvPr id="9" name="Straight Connector 3">
            <a:extLst>
              <a:ext uri="{FF2B5EF4-FFF2-40B4-BE49-F238E27FC236}">
                <a16:creationId xmlns:a16="http://schemas.microsoft.com/office/drawing/2014/main" id="{35F5F153-46E9-1100-24C5-B9DDC166ED7A}"/>
              </a:ext>
            </a:extLst>
          </p:cNvPr>
          <p:cNvCxnSpPr/>
          <p:nvPr/>
        </p:nvCxnSpPr>
        <p:spPr>
          <a:xfrm flipH="1">
            <a:off x="0" y="739749"/>
            <a:ext cx="1674813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Obraz 2">
            <a:extLst>
              <a:ext uri="{FF2B5EF4-FFF2-40B4-BE49-F238E27FC236}">
                <a16:creationId xmlns:a16="http://schemas.microsoft.com/office/drawing/2014/main" id="{FF9F4B21-374D-811E-5E70-5BBEB49F7C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40" y="3247797"/>
            <a:ext cx="16975919" cy="3258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7361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0A1B7-EA6D-D529-142E-C69335D60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F96A59E5-4520-3AB4-5706-85EAFA4AEE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14</a:t>
            </a:fld>
            <a:endParaRPr dirty="0"/>
          </a:p>
        </p:txBody>
      </p:sp>
      <p:sp>
        <p:nvSpPr>
          <p:cNvPr id="8" name="Tytuł 3">
            <a:extLst>
              <a:ext uri="{FF2B5EF4-FFF2-40B4-BE49-F238E27FC236}">
                <a16:creationId xmlns:a16="http://schemas.microsoft.com/office/drawing/2014/main" id="{2808A4F4-77B2-CCB2-ADBE-B8CD8CD1A5FB}"/>
              </a:ext>
            </a:extLst>
          </p:cNvPr>
          <p:cNvSpPr txBox="1">
            <a:spLocks/>
          </p:cNvSpPr>
          <p:nvPr/>
        </p:nvSpPr>
        <p:spPr>
          <a:xfrm>
            <a:off x="1674813" y="385664"/>
            <a:ext cx="13984063" cy="67188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lIns="0" tIns="0" rIns="0" bIns="0" anchor="ctr">
            <a:noAutofit/>
          </a:bodyPr>
          <a:lstStyle>
            <a:lvl1pPr eaLnBrk="1" hangingPunct="1">
              <a:defRPr sz="3600" b="1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sz="4000" kern="0" dirty="0"/>
              <a:t>Wyniki</a:t>
            </a:r>
          </a:p>
        </p:txBody>
      </p:sp>
      <p:cxnSp>
        <p:nvCxnSpPr>
          <p:cNvPr id="9" name="Straight Connector 3">
            <a:extLst>
              <a:ext uri="{FF2B5EF4-FFF2-40B4-BE49-F238E27FC236}">
                <a16:creationId xmlns:a16="http://schemas.microsoft.com/office/drawing/2014/main" id="{D7CDA80F-86AE-8F75-758B-A45A21ED47DB}"/>
              </a:ext>
            </a:extLst>
          </p:cNvPr>
          <p:cNvCxnSpPr/>
          <p:nvPr/>
        </p:nvCxnSpPr>
        <p:spPr>
          <a:xfrm flipH="1">
            <a:off x="0" y="739749"/>
            <a:ext cx="1674813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06500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2B5B6220-FC8A-17F7-6D76-25800AC9F41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12700">
              <a:lnSpc>
                <a:spcPts val="1925"/>
              </a:lnSpc>
            </a:pPr>
            <a:r>
              <a:rPr lang="pl-PL"/>
              <a:t>Page </a:t>
            </a:r>
            <a:fld id="{B6F15528-21DE-4FAA-801E-634DDDAF4B2B}" type="slidenum">
              <a:rPr smtClean="0"/>
              <a:pPr marL="12700">
                <a:lnSpc>
                  <a:spcPts val="1925"/>
                </a:lnSpc>
              </a:pPr>
              <a:t>15</a:t>
            </a:fld>
            <a:endParaRPr dirty="0"/>
          </a:p>
        </p:txBody>
      </p:sp>
      <p:sp>
        <p:nvSpPr>
          <p:cNvPr id="6" name="Tytuł 3">
            <a:extLst>
              <a:ext uri="{FF2B5EF4-FFF2-40B4-BE49-F238E27FC236}">
                <a16:creationId xmlns:a16="http://schemas.microsoft.com/office/drawing/2014/main" id="{329C08D2-9C48-E772-7A79-737B6B5CC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1552" y="1420416"/>
            <a:ext cx="9865096" cy="504056"/>
          </a:xfrm>
          <a:solidFill>
            <a:schemeClr val="accent2">
              <a:lumMod val="20000"/>
              <a:lumOff val="80000"/>
            </a:schemeClr>
          </a:solidFill>
        </p:spPr>
        <p:txBody>
          <a:bodyPr anchor="ctr"/>
          <a:lstStyle/>
          <a:p>
            <a:pPr algn="ctr"/>
            <a:r>
              <a:rPr lang="pl-PL" sz="4400" dirty="0"/>
              <a:t>Dalszy rozwój projektu</a:t>
            </a:r>
          </a:p>
        </p:txBody>
      </p:sp>
      <p:sp>
        <p:nvSpPr>
          <p:cNvPr id="7" name="Symbol zastępczy zawartości 1">
            <a:extLst>
              <a:ext uri="{FF2B5EF4-FFF2-40B4-BE49-F238E27FC236}">
                <a16:creationId xmlns:a16="http://schemas.microsoft.com/office/drawing/2014/main" id="{7AAF6A52-B969-E650-7CE7-47B1D41D58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608315" y="3397869"/>
            <a:ext cx="14131570" cy="3696525"/>
          </a:xfrm>
        </p:spPr>
        <p:txBody>
          <a:bodyPr/>
          <a:lstStyle/>
          <a:p>
            <a:pPr marL="342900" indent="-342900" algn="ctr">
              <a:buFont typeface="Wingdings" panose="05000000000000000000" pitchFamily="2" charset="2"/>
              <a:buChar char="ü"/>
            </a:pPr>
            <a:r>
              <a:rPr lang="pl-PL" b="1" dirty="0"/>
              <a:t>Poprawa front-endu, konstrukcji JSON z wytycznymi klinicznymi,</a:t>
            </a:r>
            <a:endParaRPr lang="pl-PL" dirty="0"/>
          </a:p>
          <a:p>
            <a:pPr algn="ctr"/>
            <a:endParaRPr lang="pl-PL" dirty="0"/>
          </a:p>
          <a:p>
            <a:pPr marL="342900" indent="-342900" algn="ctr">
              <a:buFont typeface="Wingdings" panose="05000000000000000000" pitchFamily="2" charset="2"/>
              <a:buChar char="ü"/>
            </a:pPr>
            <a:r>
              <a:rPr lang="pl-PL" b="1" dirty="0"/>
              <a:t>Dodanie do </a:t>
            </a:r>
            <a:r>
              <a:rPr lang="pl-PL" b="1" dirty="0" err="1"/>
              <a:t>outputu</a:t>
            </a:r>
            <a:r>
              <a:rPr lang="pl-PL" b="1" dirty="0"/>
              <a:t> informacji o </a:t>
            </a:r>
            <a:r>
              <a:rPr lang="pl-PL" b="1" dirty="0" err="1"/>
              <a:t>follow-up</a:t>
            </a:r>
            <a:r>
              <a:rPr lang="pl-PL" b="1" dirty="0"/>
              <a:t> oraz źródła – tytułu artykułu,</a:t>
            </a:r>
          </a:p>
          <a:p>
            <a:pPr marL="342900" indent="-342900" algn="ctr">
              <a:buFont typeface="Wingdings" panose="05000000000000000000" pitchFamily="2" charset="2"/>
              <a:buChar char="ü"/>
            </a:pPr>
            <a:endParaRPr lang="pl-PL" b="1" dirty="0"/>
          </a:p>
          <a:p>
            <a:pPr marL="342900" indent="-342900" algn="ctr">
              <a:buFont typeface="Wingdings" panose="05000000000000000000" pitchFamily="2" charset="2"/>
              <a:buChar char="ü"/>
            </a:pPr>
            <a:r>
              <a:rPr lang="pl-PL" b="1" dirty="0"/>
              <a:t>Dodanie klasyfikacji </a:t>
            </a:r>
            <a:r>
              <a:rPr lang="en-US" dirty="0"/>
              <a:t>The Bethesda System for Reporting Thyroid Cytopathology</a:t>
            </a:r>
            <a:endParaRPr lang="pl-PL" b="1" dirty="0"/>
          </a:p>
          <a:p>
            <a:pPr marL="342900" indent="-342900" algn="ctr">
              <a:buFont typeface="Wingdings" panose="05000000000000000000" pitchFamily="2" charset="2"/>
              <a:buChar char="ü"/>
            </a:pPr>
            <a:endParaRPr lang="pl-PL" dirty="0"/>
          </a:p>
          <a:p>
            <a:pPr marL="342900" indent="-342900" algn="ctr">
              <a:buFont typeface="Wingdings" panose="05000000000000000000" pitchFamily="2" charset="2"/>
              <a:buChar char="ü"/>
            </a:pPr>
            <a:r>
              <a:rPr lang="pl-PL" b="1" dirty="0"/>
              <a:t>Konteneryzacja projektu (Docker)</a:t>
            </a:r>
            <a:endParaRPr lang="pl-PL" altLang="pl-PL" dirty="0">
              <a:solidFill>
                <a:schemeClr val="tx1"/>
              </a:solidFill>
            </a:endParaRPr>
          </a:p>
          <a:p>
            <a:pPr marL="342900" indent="-342900" algn="ctr">
              <a:buFont typeface="Wingdings" panose="05000000000000000000" pitchFamily="2" charset="2"/>
              <a:buChar char="ü"/>
            </a:pPr>
            <a:endParaRPr lang="pl-PL" dirty="0"/>
          </a:p>
          <a:p>
            <a:pPr marL="342900" indent="-342900" algn="ctr">
              <a:buFont typeface="Wingdings" panose="05000000000000000000" pitchFamily="2" charset="2"/>
              <a:buChar char="ü"/>
            </a:pPr>
            <a:r>
              <a:rPr lang="pl-PL" b="1" dirty="0"/>
              <a:t>Automatyczne aktualizowanie oraz uzupełnianie wytycznych klinicznych</a:t>
            </a:r>
            <a:endParaRPr lang="pl-PL" dirty="0"/>
          </a:p>
          <a:p>
            <a:pPr lvl="1">
              <a:lnSpc>
                <a:spcPct val="150000"/>
              </a:lnSpc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2549958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3FCF2-25E0-24B0-887D-1D14CD39B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ytuł 3">
            <a:extLst>
              <a:ext uri="{FF2B5EF4-FFF2-40B4-BE49-F238E27FC236}">
                <a16:creationId xmlns:a16="http://schemas.microsoft.com/office/drawing/2014/main" id="{B7D0B974-2D86-0BFD-6CA9-5270AAEFBF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1115" y="4300736"/>
            <a:ext cx="14745970" cy="2686227"/>
          </a:xfrm>
        </p:spPr>
        <p:txBody>
          <a:bodyPr/>
          <a:lstStyle/>
          <a:p>
            <a:pPr algn="ctr"/>
            <a:r>
              <a:rPr lang="pl-PL" sz="4400" dirty="0"/>
              <a:t>Dziękuję za uwagę</a:t>
            </a:r>
          </a:p>
        </p:txBody>
      </p:sp>
      <p:sp>
        <p:nvSpPr>
          <p:cNvPr id="5" name="Podtytuł 4">
            <a:extLst>
              <a:ext uri="{FF2B5EF4-FFF2-40B4-BE49-F238E27FC236}">
                <a16:creationId xmlns:a16="http://schemas.microsoft.com/office/drawing/2014/main" id="{7A6D1401-562E-C7B3-65EF-62F5362696AE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1215800" y="8261176"/>
            <a:ext cx="14916600" cy="936104"/>
          </a:xfrm>
        </p:spPr>
        <p:txBody>
          <a:bodyPr/>
          <a:lstStyle/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lang="pl-PL" sz="2400" spc="-1" dirty="0">
                <a:solidFill>
                  <a:srgbClr val="000000"/>
                </a:solidFill>
                <a:latin typeface="Arial"/>
              </a:rPr>
              <a:t>D</a:t>
            </a:r>
            <a:r>
              <a:rPr lang="en-US" sz="2400" spc="-1" dirty="0" err="1">
                <a:solidFill>
                  <a:srgbClr val="000000"/>
                </a:solidFill>
                <a:latin typeface="Arial"/>
              </a:rPr>
              <a:t>epartment</a:t>
            </a:r>
            <a:r>
              <a:rPr lang="en-US" sz="2400" spc="-1" dirty="0">
                <a:solidFill>
                  <a:srgbClr val="000000"/>
                </a:solidFill>
                <a:latin typeface="Arial"/>
              </a:rPr>
              <a:t> of Biostatistics and Bioinformatics</a:t>
            </a:r>
            <a:endParaRPr lang="pl-PL" sz="2400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  <a:spcAft>
                <a:spcPts val="300"/>
              </a:spcAft>
            </a:pPr>
            <a:r>
              <a:rPr lang="pl-PL" sz="2400" spc="-1" dirty="0">
                <a:solidFill>
                  <a:srgbClr val="000000"/>
                </a:solidFill>
                <a:latin typeface="Arial"/>
              </a:rPr>
              <a:t>Dział Analiz </a:t>
            </a:r>
            <a:r>
              <a:rPr lang="pl-PL" sz="2400" spc="-1" dirty="0" err="1">
                <a:solidFill>
                  <a:srgbClr val="000000"/>
                </a:solidFill>
                <a:latin typeface="Arial"/>
              </a:rPr>
              <a:t>Bioinformatyczno-Biostatystycznych</a:t>
            </a:r>
            <a:r>
              <a:rPr lang="pl-PL" sz="2400" spc="-1" dirty="0">
                <a:solidFill>
                  <a:srgbClr val="000000"/>
                </a:solidFill>
                <a:latin typeface="Arial"/>
              </a:rPr>
              <a:t> </a:t>
            </a:r>
            <a:endParaRPr lang="pl-PL" sz="2400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  <a:spcAft>
                <a:spcPts val="300"/>
              </a:spcAft>
            </a:pPr>
            <a:endParaRPr lang="pl-PL" sz="2400" b="1" dirty="0"/>
          </a:p>
        </p:txBody>
      </p:sp>
    </p:spTree>
    <p:extLst>
      <p:ext uri="{BB962C8B-B14F-4D97-AF65-F5344CB8AC3E}">
        <p14:creationId xmlns:p14="http://schemas.microsoft.com/office/powerpoint/2010/main" val="1870966546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zentacja3" id="{4FC21289-F34E-45F9-B5E7-A582BBE57E8A}" vid="{6BF5EED0-4686-48A4-9FDD-2CFDE25DE932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dn_dab</Template>
  <TotalTime>5430</TotalTime>
  <Words>619</Words>
  <Application>Microsoft Office PowerPoint</Application>
  <PresentationFormat>Niestandardowy</PresentationFormat>
  <Paragraphs>124</Paragraphs>
  <Slides>16</Slides>
  <Notes>2</Notes>
  <HiddenSlides>0</HiddenSlides>
  <MMClips>0</MMClips>
  <ScaleCrop>false</ScaleCrop>
  <HeadingPairs>
    <vt:vector size="6" baseType="variant">
      <vt:variant>
        <vt:lpstr>Używane czcionki</vt:lpstr>
      </vt:variant>
      <vt:variant>
        <vt:i4>6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16</vt:i4>
      </vt:variant>
    </vt:vector>
  </HeadingPairs>
  <TitlesOfParts>
    <vt:vector size="23" baseType="lpstr">
      <vt:lpstr>Agency FB</vt:lpstr>
      <vt:lpstr>Arial</vt:lpstr>
      <vt:lpstr>Calibri</vt:lpstr>
      <vt:lpstr>Good Headline Pro</vt:lpstr>
      <vt:lpstr>Miriam Fixed</vt:lpstr>
      <vt:lpstr>Wingdings</vt:lpstr>
      <vt:lpstr>Motyw pakietu Office</vt:lpstr>
      <vt:lpstr>Projekt tworzony w ramach wolontariatu:  System wspomagania decyzji klinicznych z wykorzystaniem modeli językowych (LLM)  </vt:lpstr>
      <vt:lpstr>Na czym polega projekt?</vt:lpstr>
      <vt:lpstr>W jaki sposób to działa?</vt:lpstr>
      <vt:lpstr>W jaki sposób to działa?</vt:lpstr>
      <vt:lpstr>W jaki sposób to działa?</vt:lpstr>
      <vt:lpstr>Weryfikacja działania systemu – jak sprawdzam, czy odpowiedź jest słuszna?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Dalszy rozwój projektu</vt:lpstr>
      <vt:lpstr>Dziękuję za uwagę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analysis of research project:   tu tytuł</dc:title>
  <dc:creator>Marcela Krzempek</dc:creator>
  <cp:lastModifiedBy>Jakub Dras (jd309975)</cp:lastModifiedBy>
  <cp:revision>154</cp:revision>
  <dcterms:created xsi:type="dcterms:W3CDTF">2024-03-11T13:52:44Z</dcterms:created>
  <dcterms:modified xsi:type="dcterms:W3CDTF">2026-04-12T23:25:08Z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2020-01-31T00:00:00Z</vt:filetime>
  </property>
  <property fmtid="{D5CDD505-2E9C-101B-9397-08002B2CF9AE}" pid="3" name="Creator">
    <vt:lpwstr>Adobe InDesign 15.0 (Macintosh)</vt:lpwstr>
  </property>
  <property fmtid="{D5CDD505-2E9C-101B-9397-08002B2CF9AE}" pid="4" name="LastSaved">
    <vt:filetime>2020-01-31T00:00:00Z</vt:filetime>
  </property>
</Properties>
</file>