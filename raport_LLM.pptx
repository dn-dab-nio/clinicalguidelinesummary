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270" r:id="rId3"/>
    <p:sldId id="283" r:id="rId4"/>
    <p:sldId id="271" r:id="rId5"/>
    <p:sldId id="272" r:id="rId6"/>
    <p:sldId id="273" r:id="rId7"/>
    <p:sldId id="276" r:id="rId8"/>
    <p:sldId id="277" r:id="rId9"/>
    <p:sldId id="278" r:id="rId10"/>
    <p:sldId id="279" r:id="rId11"/>
    <p:sldId id="286" r:id="rId12"/>
    <p:sldId id="285" r:id="rId13"/>
    <p:sldId id="274" r:id="rId14"/>
    <p:sldId id="287" r:id="rId15"/>
    <p:sldId id="284" r:id="rId16"/>
    <p:sldId id="288" r:id="rId17"/>
    <p:sldId id="289" r:id="rId18"/>
    <p:sldId id="290" r:id="rId19"/>
    <p:sldId id="291" r:id="rId20"/>
    <p:sldId id="292" r:id="rId21"/>
    <p:sldId id="294" r:id="rId22"/>
    <p:sldId id="295" r:id="rId23"/>
    <p:sldId id="293" r:id="rId24"/>
    <p:sldId id="269" r:id="rId25"/>
  </p:sldIdLst>
  <p:sldSz cx="17348200" cy="9753600"/>
  <p:notesSz cx="17348200" cy="97536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9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 pośredni 4 — Ak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Styl pośredni 3 — Ak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Styl jasny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45" d="100"/>
          <a:sy n="45" d="100"/>
        </p:scale>
        <p:origin x="736" y="4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113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CCD8ED57-9C09-4853-A0D0-EC34CBC089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9826625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E61DE-1085-47AB-AAE3-B3539548EBA7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9A4A421-B078-43B8-ADA6-D2DA70E5F5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9826625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A0FAD-47BF-465E-ACFA-2AE537EA2280}" type="slidenum">
              <a:rPr lang="pl-PL" smtClean="0"/>
              <a:t>‹#›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65FE799-56A5-4EB5-8903-44B08C793F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4" name="Symbol zastępczy nagłówka 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512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9826625" y="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2BDDAD-0262-4D49-84E2-04283E1DDE08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0" y="1219200"/>
            <a:ext cx="585470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1735138" y="4694238"/>
            <a:ext cx="138779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pl-PL" dirty="0"/>
              <a:t>www</a:t>
            </a: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9826625" y="9264650"/>
            <a:ext cx="7516813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4783-92F2-4F12-9659-D20182A0DCA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3375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4783-92F2-4F12-9659-D20182A0DCA0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3413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48BC-14EC-A283-2597-02192C73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4EEDB91-5CC5-3711-373B-72F92C195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3171282-5B27-07CC-35BF-FE2FA5032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05C0E56-B6FB-1AE0-CB99-478076CE5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4783-92F2-4F12-9659-D20182A0DCA0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80223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1115" y="3505200"/>
            <a:ext cx="14745970" cy="3352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9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2230" y="7010400"/>
            <a:ext cx="12143740" cy="13716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3600">
                <a:latin typeface="Good Headline Pro"/>
                <a:cs typeface="Arial" panose="020B0604020202020204" pitchFamily="34" charset="0"/>
              </a:defRPr>
            </a:lvl1pPr>
          </a:lstStyle>
          <a:p>
            <a:r>
              <a:rPr lang="pl-PL" dirty="0"/>
              <a:t>Kliknij, aby edytować styl wzorca podtytułu</a:t>
            </a:r>
            <a:endParaRPr dirty="0"/>
          </a:p>
        </p:txBody>
      </p:sp>
      <p:pic>
        <p:nvPicPr>
          <p:cNvPr id="4" name="Obraz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00" y="533400"/>
            <a:ext cx="7574400" cy="252003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E9555DC-26A5-438E-98A7-B9863F0C61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7" name="pole tekstowe 1"/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EE4E020-F140-7DD8-2FBB-AF9AE7FAA2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13" name="Holder 2">
            <a:extLst>
              <a:ext uri="{FF2B5EF4-FFF2-40B4-BE49-F238E27FC236}">
                <a16:creationId xmlns:a16="http://schemas.microsoft.com/office/drawing/2014/main" id="{3900F3AE-4E64-A8DE-9A05-EDE8DF73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CA587BE3-D049-DD3C-822C-7213CD2EEC36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410" y="2243328"/>
            <a:ext cx="7546467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4323" y="2243328"/>
            <a:ext cx="7546467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Holder 2">
            <a:extLst>
              <a:ext uri="{FF2B5EF4-FFF2-40B4-BE49-F238E27FC236}">
                <a16:creationId xmlns:a16="http://schemas.microsoft.com/office/drawing/2014/main" id="{707AA2DD-1551-6EEA-5BEF-75425CB8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D5B9165-5AD4-B247-6701-7CA2EDB738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8" name="pole tekstowe 1">
            <a:extLst>
              <a:ext uri="{FF2B5EF4-FFF2-40B4-BE49-F238E27FC236}">
                <a16:creationId xmlns:a16="http://schemas.microsoft.com/office/drawing/2014/main" id="{CEF51ADA-71F9-3B2B-34E5-41CD94E63A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sp>
        <p:nvSpPr>
          <p:cNvPr id="13" name="Symbol zastępczy numeru slajdu 8">
            <a:extLst>
              <a:ext uri="{FF2B5EF4-FFF2-40B4-BE49-F238E27FC236}">
                <a16:creationId xmlns:a16="http://schemas.microsoft.com/office/drawing/2014/main" id="{BDCCCCC1-D20A-79DE-90C5-5D15C6AD3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01EA9B38-FD78-F901-AC2B-7CD5A18C46C3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>
            <a:extLst>
              <a:ext uri="{FF2B5EF4-FFF2-40B4-BE49-F238E27FC236}">
                <a16:creationId xmlns:a16="http://schemas.microsoft.com/office/drawing/2014/main" id="{69667078-170C-5D90-B749-62FF2707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AD81A9A-843C-9BB8-EA6E-A54FFFEF39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6" name="pole tekstowe 1">
            <a:extLst>
              <a:ext uri="{FF2B5EF4-FFF2-40B4-BE49-F238E27FC236}">
                <a16:creationId xmlns:a16="http://schemas.microsoft.com/office/drawing/2014/main" id="{101B89C4-EF01-86B5-1127-7B2205449D4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sp>
        <p:nvSpPr>
          <p:cNvPr id="11" name="Symbol zastępczy numeru slajdu 8">
            <a:extLst>
              <a:ext uri="{FF2B5EF4-FFF2-40B4-BE49-F238E27FC236}">
                <a16:creationId xmlns:a16="http://schemas.microsoft.com/office/drawing/2014/main" id="{67D32130-4461-8113-9361-93F1D6733A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CF975305-77B0-037D-AEDA-56CD5BFBD69F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AD5A7280-75A7-D5B4-04F4-2C2BBB38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9A577FE-91AF-81BC-0A36-B391C89AD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1172" y="9073466"/>
            <a:ext cx="1839476" cy="612000"/>
          </a:xfrm>
          <a:prstGeom prst="rect">
            <a:avLst/>
          </a:prstGeom>
        </p:spPr>
      </p:pic>
      <p:sp>
        <p:nvSpPr>
          <p:cNvPr id="5" name="pole tekstowe 1">
            <a:extLst>
              <a:ext uri="{FF2B5EF4-FFF2-40B4-BE49-F238E27FC236}">
                <a16:creationId xmlns:a16="http://schemas.microsoft.com/office/drawing/2014/main" id="{9231FD59-F55E-06D7-966B-D615FC140F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09404" y="9289480"/>
            <a:ext cx="491954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pl-PL" sz="1400" b="0" i="0" dirty="0">
                <a:solidFill>
                  <a:prstClr val="black"/>
                </a:solidFill>
                <a:latin typeface="Good Headline Pro"/>
                <a:cs typeface="Arial" panose="020B0604020202020204" pitchFamily="34" charset="0"/>
              </a:rPr>
              <a:t>Department of Biostatistics and Bioinformatics</a:t>
            </a:r>
          </a:p>
        </p:txBody>
      </p:sp>
      <p:sp>
        <p:nvSpPr>
          <p:cNvPr id="8" name="Symbol zastępczy numeru slajdu 8">
            <a:extLst>
              <a:ext uri="{FF2B5EF4-FFF2-40B4-BE49-F238E27FC236}">
                <a16:creationId xmlns:a16="http://schemas.microsoft.com/office/drawing/2014/main" id="{5128D2F0-BABB-D4CC-8858-913F4C3791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5514860" y="9296244"/>
            <a:ext cx="1479436" cy="230128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latin typeface="Good Headline Pro"/>
              </a:defRPr>
            </a:lvl1pPr>
          </a:lstStyle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‹#›</a:t>
            </a:fld>
            <a:endParaRPr dirty="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8E1BCC24-9E11-3D63-F3AD-EDF2A970E468}"/>
              </a:ext>
            </a:extLst>
          </p:cNvPr>
          <p:cNvSpPr/>
          <p:nvPr userDrawn="1"/>
        </p:nvSpPr>
        <p:spPr>
          <a:xfrm>
            <a:off x="2337396" y="9194800"/>
            <a:ext cx="0" cy="558800"/>
          </a:xfrm>
          <a:custGeom>
            <a:avLst/>
            <a:gdLst/>
            <a:ahLst/>
            <a:cxnLst/>
            <a:rect l="l" t="t" r="r" b="b"/>
            <a:pathLst>
              <a:path h="558800">
                <a:moveTo>
                  <a:pt x="0" y="0"/>
                </a:moveTo>
                <a:lnTo>
                  <a:pt x="0" y="5588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7410" y="412304"/>
            <a:ext cx="15613380" cy="151485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15613380" cy="67482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/>
            </a:lvl1pPr>
          </a:lstStyle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/>
  <p:txStyles>
    <p:titleStyle>
      <a:lvl1pPr eaLnBrk="1" hangingPunct="1">
        <a:defRPr sz="3600" b="1">
          <a:latin typeface="Good Headline Pro"/>
          <a:ea typeface="+mj-ea"/>
          <a:cs typeface="+mj-cs"/>
        </a:defRPr>
      </a:lvl1pPr>
    </p:titleStyle>
    <p:bodyStyle>
      <a:lvl1pPr marL="0" eaLnBrk="1" hangingPunct="1">
        <a:defRPr sz="2400"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smo.org/guidelines/esmo-clinical-practice-guideline-thyroid-cancer" TargetMode="External"/><Relationship Id="rId7" Type="http://schemas.openxmlformats.org/officeDocument/2006/relationships/image" Target="../media/image17.png"/><Relationship Id="rId2" Type="http://schemas.openxmlformats.org/officeDocument/2006/relationships/hyperlink" Target="https://www.esmo.org/guidelines/esmo-clinical-practice-guidelines-endocrine-and-neuroendocrine-cancer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thyroid.org/professionals/ata-professional-guideline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ascopubs.org/topics/asco-guidelines/endocrine-neuroendocrine-cancer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kom.nio.gov.pl/rekomendacje" TargetMode="External"/><Relationship Id="rId3" Type="http://schemas.openxmlformats.org/officeDocument/2006/relationships/hyperlink" Target="https://kom.nio.gov.pl/rak-kory-nadnercza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kom.nio.gov.pl/rak-tarczycy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kom.nio.gov.pl/net-przewodu-pokarmowego-oraz-zoladka-i-dwunastnicy" TargetMode="External"/><Relationship Id="rId4" Type="http://schemas.openxmlformats.org/officeDocument/2006/relationships/hyperlink" Target="https://kom.nio.gov.pl/net-jelita-cienkiego-i-wyrostka-robaczkowego-jelita-grubego-oraz-trzustki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mendeley.com/datasets/57726vkm48/1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malinowski.edu.pl/posts/3326-embedding-w-sztucznej-inteligencji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articles/what-is-rag-in-ai?utm_medium=sem&amp;utm_source=gg&amp;utm_campaign=b2c_emea_x_multi_ftcof_career-academy_cx_dr_bau_gg_pmax_gc_s1_en_m_hyb_23-12_desktop&amp;campaignid=20858198824&amp;adgroupid=&amp;device=c&amp;keyword=&amp;matchtype=&amp;network=x&amp;devicemodel=&amp;creativeid=&amp;assetgroupid=6490027433&amp;targetid=&amp;extensionid=&amp;placement=&amp;gad_source=1&amp;gad_campaignid=20854471652&amp;gclid=CjwKCAiA7LzLBhAgEiwAjMWzCF3Dfv-ApmcrtsdBK8WCxxU4V9I5VVqdzJakGH3wEPxMmDtdyYRWvhoCNUcQAvD_Bw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llama.com/ahmgam/medllama3-v20" TargetMode="External"/><Relationship Id="rId2" Type="http://schemas.openxmlformats.org/officeDocument/2006/relationships/hyperlink" Target="https://ollama.com/rjmalagon/medllama3-v20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library/gpt-os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yfronet.pl/" TargetMode="External"/><Relationship Id="rId7" Type="http://schemas.openxmlformats.org/officeDocument/2006/relationships/hyperlink" Target="https://ollama.com/SpeakLeash/bielik-11b-v2.3-instruct" TargetMode="External"/><Relationship Id="rId2" Type="http://schemas.openxmlformats.org/officeDocument/2006/relationships/hyperlink" Target="https://speakleash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elik.ai/terms/" TargetMode="External"/><Relationship Id="rId5" Type="http://schemas.openxmlformats.org/officeDocument/2006/relationships/hyperlink" Target="https://huggingface.co/speakleash/Bielik-11B-v2" TargetMode="External"/><Relationship Id="rId4" Type="http://schemas.openxmlformats.org/officeDocument/2006/relationships/hyperlink" Target="https://huggingface.co/speakleash/Bielik-11B-v2.3-Instruct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library/llama3.1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library/llama3.1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3F72D00C-5325-4C8E-9357-A7721239B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115" y="4019373"/>
            <a:ext cx="14745970" cy="2686227"/>
          </a:xfrm>
        </p:spPr>
        <p:txBody>
          <a:bodyPr/>
          <a:lstStyle/>
          <a:p>
            <a:pPr algn="ctr"/>
            <a:r>
              <a:rPr lang="pl-PL" sz="4000" b="0" spc="-1" dirty="0">
                <a:solidFill>
                  <a:srgbClr val="000000"/>
                </a:solidFill>
              </a:rPr>
              <a:t>Data </a:t>
            </a:r>
            <a:r>
              <a:rPr lang="pl-PL" sz="4000" b="0" spc="-1" dirty="0" err="1">
                <a:solidFill>
                  <a:srgbClr val="000000"/>
                </a:solidFill>
              </a:rPr>
              <a:t>analysis</a:t>
            </a:r>
            <a:r>
              <a:rPr lang="pl-PL" sz="4000" b="0" spc="-1" dirty="0">
                <a:solidFill>
                  <a:srgbClr val="000000"/>
                </a:solidFill>
              </a:rPr>
              <a:t> of </a:t>
            </a:r>
            <a:r>
              <a:rPr lang="pl-PL" sz="4000" b="0" spc="-1" dirty="0" err="1">
                <a:solidFill>
                  <a:srgbClr val="000000"/>
                </a:solidFill>
              </a:rPr>
              <a:t>research</a:t>
            </a:r>
            <a:r>
              <a:rPr lang="pl-PL" sz="4000" b="0" spc="-1" dirty="0">
                <a:solidFill>
                  <a:srgbClr val="000000"/>
                </a:solidFill>
              </a:rPr>
              <a:t> </a:t>
            </a:r>
            <a:r>
              <a:rPr lang="pl-PL" sz="4000" b="0" spc="-1" dirty="0" err="1">
                <a:solidFill>
                  <a:srgbClr val="000000"/>
                </a:solidFill>
              </a:rPr>
              <a:t>project</a:t>
            </a:r>
            <a:r>
              <a:rPr lang="pl-PL" sz="4000" b="0" spc="-1" dirty="0">
                <a:solidFill>
                  <a:srgbClr val="000000"/>
                </a:solidFill>
              </a:rPr>
              <a:t>: </a:t>
            </a:r>
            <a:br>
              <a:rPr lang="pl-PL" sz="4000" spc="-1" dirty="0">
                <a:solidFill>
                  <a:srgbClr val="000000"/>
                </a:solidFill>
              </a:rPr>
            </a:br>
            <a:br>
              <a:rPr lang="pl-PL" sz="4000" spc="-1" dirty="0">
                <a:solidFill>
                  <a:srgbClr val="000000"/>
                </a:solidFill>
              </a:rPr>
            </a:br>
            <a:r>
              <a:rPr lang="pl-PL" sz="4000" dirty="0"/>
              <a:t>LLM – rodzaje, zastosowania i wytyczne kliniczne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7FADB485-3380-4692-BDE6-605D441A7235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5800" y="6858000"/>
            <a:ext cx="14916600" cy="1371600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</a:t>
            </a:r>
            <a:r>
              <a:rPr lang="en-US" sz="2400" spc="-1" dirty="0" err="1">
                <a:solidFill>
                  <a:srgbClr val="000000"/>
                </a:solidFill>
                <a:latin typeface="Arial"/>
              </a:rPr>
              <a:t>epartment</a:t>
            </a:r>
            <a:r>
              <a:rPr lang="en-US" sz="2400" spc="-1" dirty="0">
                <a:solidFill>
                  <a:srgbClr val="000000"/>
                </a:solidFill>
                <a:latin typeface="Arial"/>
              </a:rPr>
              <a:t> of Biostatistics and Bioinformatics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Dział Analiz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Bioinformatyczno-Biostatystycznych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 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endParaRPr lang="pl-PL" sz="2400" b="1" dirty="0"/>
          </a:p>
        </p:txBody>
      </p:sp>
      <p:sp>
        <p:nvSpPr>
          <p:cNvPr id="8" name="CustomShape 4"/>
          <p:cNvSpPr/>
          <p:nvPr/>
        </p:nvSpPr>
        <p:spPr>
          <a:xfrm>
            <a:off x="254000" y="8378989"/>
            <a:ext cx="16840200" cy="82954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pl-PL" sz="2400" b="0" strike="noStrike" spc="-1" dirty="0" err="1">
                <a:solidFill>
                  <a:srgbClr val="000000"/>
                </a:solidFill>
                <a:latin typeface="Arial"/>
              </a:rPr>
              <a:t>Research</a:t>
            </a:r>
            <a:r>
              <a:rPr lang="pl-PL" sz="24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l-PL" sz="2400" b="0" strike="noStrike" spc="-1" dirty="0" err="1">
                <a:solidFill>
                  <a:srgbClr val="000000"/>
                </a:solidFill>
                <a:latin typeface="Arial"/>
              </a:rPr>
              <a:t>project</a:t>
            </a:r>
            <a:r>
              <a:rPr lang="pl-PL" sz="2400" b="0" strike="noStrike" spc="-1" dirty="0">
                <a:solidFill>
                  <a:srgbClr val="000000"/>
                </a:solidFill>
                <a:latin typeface="Arial"/>
              </a:rPr>
              <a:t> of:  Natalia Nowak</a:t>
            </a:r>
          </a:p>
          <a:p>
            <a:pPr>
              <a:lnSpc>
                <a:spcPct val="100000"/>
              </a:lnSpc>
            </a:pP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Scientific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supervisor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: dr n.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tech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. inż. Agata Wilk</a:t>
            </a:r>
          </a:p>
        </p:txBody>
      </p:sp>
    </p:spTree>
    <p:extLst>
      <p:ext uri="{BB962C8B-B14F-4D97-AF65-F5344CB8AC3E}">
        <p14:creationId xmlns:p14="http://schemas.microsoft.com/office/powerpoint/2010/main" val="27229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53D46528-C3AA-038E-798A-31A0D5F16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1996480"/>
            <a:ext cx="15613380" cy="699512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l-PL" dirty="0"/>
              <a:t>Duże modele językowe (LLM) to systemy trenowane są na ogromnych zbiorach tekstów, które rozumieją język i generują język zbliżony do ludzkiego. Umożliwiają takie zadania jak streszczenie, rozumowanie, prowadzenie rozmów i mają szeroki zakres zadań.</a:t>
            </a:r>
          </a:p>
          <a:p>
            <a:pPr algn="just">
              <a:lnSpc>
                <a:spcPct val="150000"/>
              </a:lnSpc>
            </a:pP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dirty="0"/>
              <a:t>Modele te uczą się na podstawie ogromnych ilości tekstu — od książek i stron internetowych po kod i rozmowy — dzięki czemu poznają praktyczne zasady działania języka. </a:t>
            </a:r>
            <a:r>
              <a:rPr lang="pl-PL" dirty="0" err="1"/>
              <a:t>Chatbot</a:t>
            </a:r>
            <a:r>
              <a:rPr lang="pl-PL" dirty="0"/>
              <a:t> AI rozumie Twoje pytanie, nawet jeśli dopytujesz, bo potrafi zachować kontekst.</a:t>
            </a:r>
          </a:p>
          <a:p>
            <a:pPr algn="just">
              <a:lnSpc>
                <a:spcPct val="150000"/>
              </a:lnSpc>
            </a:pPr>
            <a:endParaRPr lang="pl-PL" dirty="0"/>
          </a:p>
          <a:p>
            <a:pPr algn="just">
              <a:lnSpc>
                <a:spcPct val="150000"/>
              </a:lnSpc>
            </a:pPr>
            <a:endParaRPr lang="pl-PL" dirty="0"/>
          </a:p>
          <a:p>
            <a:pPr algn="just">
              <a:lnSpc>
                <a:spcPct val="150000"/>
              </a:lnSpc>
            </a:pPr>
            <a:r>
              <a:rPr lang="pl-PL" dirty="0"/>
              <a:t>Najwięksi dostawcy LLM to </a:t>
            </a:r>
            <a:r>
              <a:rPr lang="pl-PL" dirty="0" err="1"/>
              <a:t>OpenAI</a:t>
            </a:r>
            <a:r>
              <a:rPr lang="pl-PL" dirty="0"/>
              <a:t>, </a:t>
            </a:r>
            <a:r>
              <a:rPr lang="pl-PL" dirty="0" err="1"/>
              <a:t>Anthropic</a:t>
            </a:r>
            <a:r>
              <a:rPr lang="pl-PL" dirty="0"/>
              <a:t>, Google </a:t>
            </a:r>
            <a:r>
              <a:rPr lang="pl-PL" dirty="0" err="1"/>
              <a:t>DeepMind</a:t>
            </a:r>
            <a:r>
              <a:rPr lang="pl-PL" dirty="0"/>
              <a:t>, Meta, </a:t>
            </a:r>
            <a:r>
              <a:rPr lang="pl-PL" dirty="0" err="1"/>
              <a:t>DeepSeek</a:t>
            </a:r>
            <a:r>
              <a:rPr lang="pl-PL" dirty="0"/>
              <a:t>, </a:t>
            </a:r>
            <a:r>
              <a:rPr lang="pl-PL" dirty="0" err="1"/>
              <a:t>xAI</a:t>
            </a:r>
            <a:r>
              <a:rPr lang="pl-PL" dirty="0"/>
              <a:t> i Mistral. Specjalizują się w różnych obszarach.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B8E0D5C-9219-EB10-7D26-0E442175CC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2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D8965BC3-01AA-3C98-B8CA-7862B3BF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4813" y="748531"/>
            <a:ext cx="6798345" cy="576064"/>
          </a:xfrm>
        </p:spPr>
        <p:txBody>
          <a:bodyPr anchor="ctr"/>
          <a:lstStyle/>
          <a:p>
            <a:pPr algn="ctr"/>
            <a:r>
              <a:rPr lang="pl-PL" sz="4000" dirty="0"/>
              <a:t>LLM – Large Language Model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CCFEF341-F568-6574-CB71-D1B627FA80D9}"/>
              </a:ext>
            </a:extLst>
          </p:cNvPr>
          <p:cNvCxnSpPr/>
          <p:nvPr/>
        </p:nvCxnSpPr>
        <p:spPr>
          <a:xfrm flipH="1">
            <a:off x="0" y="1102615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55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6261B82F-B725-0A49-CE76-8AD2BD2C1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187" y="1492424"/>
            <a:ext cx="7546467" cy="344017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Modele multimodalne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dirty="0"/>
          </a:p>
          <a:p>
            <a:pPr>
              <a:lnSpc>
                <a:spcPct val="150000"/>
              </a:lnSpc>
            </a:pPr>
            <a:r>
              <a:rPr lang="pl-PL" dirty="0"/>
              <a:t>Dla tych modeli LLM, wejściem są pliki w postaci zdjęć, wideo lub tekstu. Model generuje na wyjściu także pliki multimodalne, w zależności od zadania. </a:t>
            </a:r>
          </a:p>
          <a:p>
            <a:pPr>
              <a:lnSpc>
                <a:spcPct val="150000"/>
              </a:lnSpc>
            </a:pPr>
            <a:endParaRPr lang="pl-PL" dirty="0"/>
          </a:p>
          <a:p>
            <a:pPr lvl="1">
              <a:lnSpc>
                <a:spcPct val="150000"/>
              </a:lnSpc>
            </a:pP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707946-2411-8CC7-2145-A015892D1E6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9336547" y="1492424"/>
            <a:ext cx="7272808" cy="53553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l-PL" dirty="0"/>
              <a:t>Modele </a:t>
            </a:r>
            <a:r>
              <a:rPr lang="pl-PL" i="1" dirty="0" err="1"/>
              <a:t>Text</a:t>
            </a:r>
            <a:r>
              <a:rPr lang="pl-PL" i="1" dirty="0"/>
              <a:t>-to-</a:t>
            </a:r>
            <a:r>
              <a:rPr lang="pl-PL" i="1" dirty="0" err="1"/>
              <a:t>Text</a:t>
            </a:r>
            <a:endParaRPr lang="pl-PL" i="1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i="1" dirty="0"/>
          </a:p>
          <a:p>
            <a:pPr algn="just">
              <a:lnSpc>
                <a:spcPct val="150000"/>
              </a:lnSpc>
            </a:pPr>
            <a:r>
              <a:rPr lang="pl-PL" dirty="0"/>
              <a:t>Przyjmują wyłącznie tekst jako wejście i generują tekst jako wyjście. Tego typu modele są wykorzystywane w typowych zadaniach językowych, takich jak </a:t>
            </a:r>
            <a:r>
              <a:rPr lang="pl-PL" dirty="0" err="1"/>
              <a:t>chatboty</a:t>
            </a:r>
            <a:r>
              <a:rPr lang="pl-PL" dirty="0"/>
              <a:t>, streszczanie tekstów, tłumaczenie, odpowiadanie na pytania. Są one fundamentem większości współczesnych LLM i bazują jedynie na </a:t>
            </a:r>
            <a:r>
              <a:rPr lang="pl-PL" dirty="0" err="1"/>
              <a:t>tokenach</a:t>
            </a:r>
            <a:r>
              <a:rPr lang="pl-PL" dirty="0"/>
              <a:t> tekstowych.</a:t>
            </a:r>
            <a:endParaRPr lang="pl-PL" i="1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pl-PL" i="1" dirty="0"/>
          </a:p>
          <a:p>
            <a:endParaRPr lang="pl-PL"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4F3BDB7D-ED91-5DB2-4C69-0D384DD3E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9924" y="484312"/>
            <a:ext cx="2838138" cy="576064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/>
          <a:p>
            <a:pPr algn="ctr"/>
            <a:r>
              <a:rPr lang="pl-PL" dirty="0"/>
              <a:t>Rodzaje LLM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29C23E6-BC6E-E0FC-2268-EF2C68DFAB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3</a:t>
            </a:fld>
            <a:endParaRPr dirty="0"/>
          </a:p>
        </p:txBody>
      </p:sp>
      <p:pic>
        <p:nvPicPr>
          <p:cNvPr id="7" name="Obraz 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E7F8E53-E3E3-08C0-EBBA-19F23527A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87" y="4215596"/>
            <a:ext cx="6411739" cy="40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0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0305FB4C-0B76-2E73-4BF7-703CD7D90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1331507"/>
            <a:ext cx="15613380" cy="2697877"/>
          </a:xfrm>
        </p:spPr>
        <p:txBody>
          <a:bodyPr/>
          <a:lstStyle/>
          <a:p>
            <a:pPr algn="just"/>
            <a:r>
              <a:rPr lang="pl-PL" dirty="0"/>
              <a:t>Firma stoi za </a:t>
            </a:r>
            <a:r>
              <a:rPr lang="pl-PL" dirty="0" err="1"/>
              <a:t>ChatGPT</a:t>
            </a:r>
            <a:r>
              <a:rPr lang="pl-PL" dirty="0"/>
              <a:t> i serią GPT. Działa jako laboratorium badawcze, jak i komercyjna platforma., udostępniając swoje modele przez API. Modele oferowane przez platformę mają limit darmowego użycia. Firma skupia się na tworzeniu uniwersalnych modeli o szerokich możliwościach. 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Żaden aktualny model </a:t>
            </a:r>
            <a:r>
              <a:rPr lang="pl-PL" dirty="0" err="1"/>
              <a:t>OpenAI</a:t>
            </a:r>
            <a:r>
              <a:rPr lang="pl-PL" dirty="0"/>
              <a:t> nie jest open-</a:t>
            </a:r>
            <a:r>
              <a:rPr lang="pl-PL" dirty="0" err="1"/>
              <a:t>source</a:t>
            </a:r>
            <a:r>
              <a:rPr lang="pl-PL" dirty="0"/>
              <a:t>, są zamknięte. Można korzystać z modeli komercyjnie przez API, zgodnie z regulaminem, ale bez dalszej redystrybucji modelu. 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F750D3FD-DA76-DC54-55E8-3D10C9AD93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4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F0F1DEBA-DD2D-FF69-ABE7-5D6D97A37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356" y="392648"/>
            <a:ext cx="1803460" cy="678787"/>
          </a:xfrm>
        </p:spPr>
        <p:txBody>
          <a:bodyPr/>
          <a:lstStyle/>
          <a:p>
            <a:r>
              <a:rPr lang="pl-PL" dirty="0" err="1"/>
              <a:t>OpenAI</a:t>
            </a:r>
            <a:endParaRPr lang="pl-PL" dirty="0"/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D8906F01-7EFE-096C-A8F4-B3A6E8E3B98E}"/>
              </a:ext>
            </a:extLst>
          </p:cNvPr>
          <p:cNvCxnSpPr/>
          <p:nvPr/>
        </p:nvCxnSpPr>
        <p:spPr>
          <a:xfrm flipH="1">
            <a:off x="-46990" y="732042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BA574210-FB3B-999F-1491-A09B7ECA1743}"/>
              </a:ext>
            </a:extLst>
          </p:cNvPr>
          <p:cNvCxnSpPr/>
          <p:nvPr/>
        </p:nvCxnSpPr>
        <p:spPr>
          <a:xfrm flipH="1">
            <a:off x="-46990" y="4876800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8E5BBE01-5EA4-D3C4-EAC1-E5DC23D03806}"/>
              </a:ext>
            </a:extLst>
          </p:cNvPr>
          <p:cNvSpPr txBox="1">
            <a:spLocks/>
          </p:cNvSpPr>
          <p:nvPr/>
        </p:nvSpPr>
        <p:spPr>
          <a:xfrm>
            <a:off x="1973462" y="4577070"/>
            <a:ext cx="2376264" cy="6274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kern="0" dirty="0" err="1">
                <a:solidFill>
                  <a:sysClr val="windowText" lastClr="000000"/>
                </a:solidFill>
              </a:rPr>
              <a:t>Anthropic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D76B4705-34C2-426C-BB36-D61A0E83228A}"/>
              </a:ext>
            </a:extLst>
          </p:cNvPr>
          <p:cNvSpPr txBox="1">
            <a:spLocks/>
          </p:cNvSpPr>
          <p:nvPr/>
        </p:nvSpPr>
        <p:spPr>
          <a:xfrm>
            <a:off x="896456" y="5511561"/>
            <a:ext cx="15613380" cy="171352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kern="0" dirty="0">
                <a:solidFill>
                  <a:sysClr val="windowText" lastClr="000000"/>
                </a:solidFill>
              </a:rPr>
              <a:t>Firma AI z San Francisco, założona przez byłych badaczy </a:t>
            </a:r>
            <a:r>
              <a:rPr lang="pl-PL" kern="0" dirty="0" err="1">
                <a:solidFill>
                  <a:sysClr val="windowText" lastClr="000000"/>
                </a:solidFill>
              </a:rPr>
              <a:t>OpenAI</a:t>
            </a:r>
            <a:r>
              <a:rPr lang="pl-PL" kern="0" dirty="0">
                <a:solidFill>
                  <a:sysClr val="windowText" lastClr="000000"/>
                </a:solidFill>
              </a:rPr>
              <a:t>. Koncentruje się na budowaniu modeli językowych, które są bezpieczne, niezawodne w dłuższych rozmowach. Ich modele CLAUDE są typu generatywnego i są stosowane głównie przez aplikacje webowe/mobilne. Istnieją takie rodzaje modeli jak CLAUDE  Haiku, </a:t>
            </a:r>
            <a:r>
              <a:rPr lang="pl-PL" kern="0" dirty="0" err="1">
                <a:solidFill>
                  <a:sysClr val="windowText" lastClr="000000"/>
                </a:solidFill>
              </a:rPr>
              <a:t>Sonnet</a:t>
            </a:r>
            <a:r>
              <a:rPr lang="pl-PL" kern="0" dirty="0">
                <a:solidFill>
                  <a:sysClr val="windowText" lastClr="000000"/>
                </a:solidFill>
              </a:rPr>
              <a:t>, Opus i Opus 4.5.</a:t>
            </a: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kern="0" dirty="0">
                <a:solidFill>
                  <a:sysClr val="windowText" lastClr="000000"/>
                </a:solidFill>
              </a:rPr>
              <a:t>Modele są zamknięte (</a:t>
            </a:r>
            <a:r>
              <a:rPr lang="pl-PL" kern="0" dirty="0" err="1">
                <a:solidFill>
                  <a:sysClr val="windowText" lastClr="000000"/>
                </a:solidFill>
              </a:rPr>
              <a:t>proprietarne</a:t>
            </a:r>
            <a:r>
              <a:rPr lang="pl-PL" kern="0" dirty="0">
                <a:solidFill>
                  <a:sysClr val="windowText" lastClr="000000"/>
                </a:solidFill>
              </a:rPr>
              <a:t>) i nie są publicznie otwarte, nie ma możliwości pobrania wag ani samodzielnego </a:t>
            </a:r>
            <a:r>
              <a:rPr lang="pl-PL" kern="0" dirty="0" err="1">
                <a:solidFill>
                  <a:sysClr val="windowText" lastClr="000000"/>
                </a:solidFill>
              </a:rPr>
              <a:t>hostowania</a:t>
            </a:r>
            <a:r>
              <a:rPr lang="pl-PL" kern="0" dirty="0">
                <a:solidFill>
                  <a:sysClr val="windowText" lastClr="000000"/>
                </a:solidFill>
              </a:rPr>
              <a:t> lokalnie. </a:t>
            </a:r>
            <a:r>
              <a:rPr lang="pl-PL" kern="0" dirty="0" err="1">
                <a:solidFill>
                  <a:sysClr val="windowText" lastClr="000000"/>
                </a:solidFill>
              </a:rPr>
              <a:t>Anthropic</a:t>
            </a:r>
            <a:r>
              <a:rPr lang="pl-PL" kern="0" dirty="0">
                <a:solidFill>
                  <a:sysClr val="windowText" lastClr="000000"/>
                </a:solidFill>
              </a:rPr>
              <a:t> rozlicza się głównie za liczbę przetworzonych </a:t>
            </a:r>
            <a:r>
              <a:rPr lang="pl-PL" kern="0" dirty="0" err="1">
                <a:solidFill>
                  <a:sysClr val="windowText" lastClr="000000"/>
                </a:solidFill>
              </a:rPr>
              <a:t>tokenów</a:t>
            </a:r>
            <a:r>
              <a:rPr lang="pl-PL" kern="0" dirty="0">
                <a:solidFill>
                  <a:sysClr val="windowText" lastClr="000000"/>
                </a:solidFill>
              </a:rPr>
              <a:t>. Subskrypcje mają miesięczny abonament plus opłaty za użycie </a:t>
            </a:r>
            <a:r>
              <a:rPr lang="pl-PL" kern="0" dirty="0" err="1">
                <a:solidFill>
                  <a:sysClr val="windowText" lastClr="000000"/>
                </a:solidFill>
              </a:rPr>
              <a:t>tokenów</a:t>
            </a:r>
            <a:r>
              <a:rPr lang="pl-PL" kern="0" dirty="0">
                <a:solidFill>
                  <a:sysClr val="windowText" lastClr="000000"/>
                </a:solidFill>
              </a:rPr>
              <a:t>.</a:t>
            </a:r>
          </a:p>
        </p:txBody>
      </p:sp>
      <p:pic>
        <p:nvPicPr>
          <p:cNvPr id="3074" name="Picture 2" descr="OpenAI | Sequoia Capital">
            <a:extLst>
              <a:ext uri="{FF2B5EF4-FFF2-40B4-BE49-F238E27FC236}">
                <a16:creationId xmlns:a16="http://schemas.microsoft.com/office/drawing/2014/main" id="{22BFA839-CD52-912C-A9C0-3C33DCF01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9588" y="487952"/>
            <a:ext cx="1810544" cy="49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58048A7D-45AD-7EE9-33A0-380461BC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6741" y="4336457"/>
            <a:ext cx="1949497" cy="109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5D2C-E536-14A7-F7C6-E47B9413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6783029F-954B-6DBC-17A5-4CE16A21D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1331508"/>
            <a:ext cx="15613380" cy="1713524"/>
          </a:xfrm>
        </p:spPr>
        <p:txBody>
          <a:bodyPr/>
          <a:lstStyle/>
          <a:p>
            <a:pPr algn="just"/>
            <a:r>
              <a:rPr lang="pl-PL" dirty="0"/>
              <a:t>Dział badań AI w Google, znany z przełomów w grach i uczeniu przez wzmacnianie, a teraz jest odpowiedzialny za modele </a:t>
            </a:r>
            <a:r>
              <a:rPr lang="pl-PL" dirty="0" err="1"/>
              <a:t>Gemini</a:t>
            </a:r>
            <a:r>
              <a:rPr lang="pl-PL" dirty="0"/>
              <a:t>, które napędzają produkty Google. Modele </a:t>
            </a:r>
            <a:r>
              <a:rPr lang="pl-PL" dirty="0" err="1"/>
              <a:t>Gemini</a:t>
            </a:r>
            <a:r>
              <a:rPr lang="pl-PL" dirty="0"/>
              <a:t> są tworzone z myślą o zadaniach wymagających długiego kontekstu. Modele </a:t>
            </a:r>
            <a:r>
              <a:rPr lang="pl-PL" dirty="0" err="1"/>
              <a:t>sa</a:t>
            </a:r>
            <a:r>
              <a:rPr lang="pl-PL" dirty="0"/>
              <a:t> zamknięte, generują obrazy, audio, tekst i inne </a:t>
            </a:r>
            <a:r>
              <a:rPr lang="pl-PL"/>
              <a:t>dane jednocześnie.</a:t>
            </a: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EC227C70-8597-84E2-63C7-6F86F2384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5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2EAAC7AC-6F28-CF02-88AC-6A832A43C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356" y="392649"/>
            <a:ext cx="4032448" cy="595720"/>
          </a:xfrm>
        </p:spPr>
        <p:txBody>
          <a:bodyPr/>
          <a:lstStyle/>
          <a:p>
            <a:r>
              <a:rPr lang="pl-PL" dirty="0"/>
              <a:t>Google </a:t>
            </a:r>
            <a:r>
              <a:rPr lang="pl-PL" dirty="0" err="1"/>
              <a:t>DeepMind</a:t>
            </a:r>
            <a:endParaRPr lang="pl-PL" dirty="0"/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45AE4360-F931-6711-588C-62809929121A}"/>
              </a:ext>
            </a:extLst>
          </p:cNvPr>
          <p:cNvCxnSpPr/>
          <p:nvPr/>
        </p:nvCxnSpPr>
        <p:spPr>
          <a:xfrm flipH="1">
            <a:off x="-46990" y="732042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A19A2F57-3E1B-CA63-4C57-49F0F951F6EB}"/>
              </a:ext>
            </a:extLst>
          </p:cNvPr>
          <p:cNvCxnSpPr/>
          <p:nvPr/>
        </p:nvCxnSpPr>
        <p:spPr>
          <a:xfrm flipH="1">
            <a:off x="-46990" y="3720305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9A16321D-0136-AB01-3CA1-2FB3E1365CBB}"/>
              </a:ext>
            </a:extLst>
          </p:cNvPr>
          <p:cNvSpPr txBox="1">
            <a:spLocks/>
          </p:cNvSpPr>
          <p:nvPr/>
        </p:nvSpPr>
        <p:spPr>
          <a:xfrm>
            <a:off x="1977356" y="3385279"/>
            <a:ext cx="2376264" cy="6274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kern="0" dirty="0">
                <a:solidFill>
                  <a:sysClr val="windowText" lastClr="000000"/>
                </a:solidFill>
              </a:rPr>
              <a:t>Meta</a:t>
            </a: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32DC2A79-F6DB-36DF-B4D0-8D1373DEAB2E}"/>
              </a:ext>
            </a:extLst>
          </p:cNvPr>
          <p:cNvSpPr txBox="1">
            <a:spLocks/>
          </p:cNvSpPr>
          <p:nvPr/>
        </p:nvSpPr>
        <p:spPr>
          <a:xfrm>
            <a:off x="900350" y="4319770"/>
            <a:ext cx="15613380" cy="314931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kern="0" dirty="0">
                <a:solidFill>
                  <a:sysClr val="windowText" lastClr="000000"/>
                </a:solidFill>
              </a:rPr>
              <a:t>Firma stoi za modelami </a:t>
            </a:r>
            <a:r>
              <a:rPr lang="pl-PL" kern="0" dirty="0" err="1">
                <a:solidFill>
                  <a:sysClr val="windowText" lastClr="000000"/>
                </a:solidFill>
              </a:rPr>
              <a:t>LLaMA</a:t>
            </a:r>
            <a:r>
              <a:rPr lang="pl-PL" kern="0" dirty="0">
                <a:solidFill>
                  <a:sysClr val="windowText" lastClr="000000"/>
                </a:solidFill>
              </a:rPr>
              <a:t> – jednymi z </a:t>
            </a:r>
            <a:r>
              <a:rPr lang="pl-PL" b="1" kern="0" dirty="0">
                <a:solidFill>
                  <a:sysClr val="windowText" lastClr="000000"/>
                </a:solidFill>
              </a:rPr>
              <a:t>najmocniejszych modeli otwartych </a:t>
            </a:r>
            <a:r>
              <a:rPr lang="pl-PL" kern="0" dirty="0">
                <a:solidFill>
                  <a:sysClr val="windowText" lastClr="000000"/>
                </a:solidFill>
              </a:rPr>
              <a:t>dostępnych na rynku obecnie. Modele można pobrać i często wykorzystuje się je do prywatnych wdrożeń i eksperymentów. Meta skupia się na udostępnianiu wydajnych modeli, które </a:t>
            </a:r>
            <a:r>
              <a:rPr lang="pl-PL" b="1" kern="0" dirty="0">
                <a:solidFill>
                  <a:sysClr val="windowText" lastClr="000000"/>
                </a:solidFill>
              </a:rPr>
              <a:t>społeczność może samodzielnie dostrajać, </a:t>
            </a:r>
            <a:r>
              <a:rPr lang="pl-PL" b="1" kern="0" dirty="0" err="1">
                <a:solidFill>
                  <a:sysClr val="windowText" lastClr="000000"/>
                </a:solidFill>
              </a:rPr>
              <a:t>hostować</a:t>
            </a:r>
            <a:r>
              <a:rPr lang="pl-PL" b="1" kern="0" dirty="0">
                <a:solidFill>
                  <a:sysClr val="windowText" lastClr="000000"/>
                </a:solidFill>
              </a:rPr>
              <a:t> </a:t>
            </a:r>
            <a:r>
              <a:rPr lang="pl-PL" kern="0" dirty="0">
                <a:solidFill>
                  <a:sysClr val="windowText" lastClr="000000"/>
                </a:solidFill>
              </a:rPr>
              <a:t>lub integrować bez konieczności korzystania z zewnętrznych API.</a:t>
            </a: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kern="0" dirty="0">
                <a:solidFill>
                  <a:sysClr val="windowText" lastClr="000000"/>
                </a:solidFill>
              </a:rPr>
              <a:t>Dostęp jest ograniczony licencją. </a:t>
            </a:r>
          </a:p>
        </p:txBody>
      </p:sp>
      <p:pic>
        <p:nvPicPr>
          <p:cNvPr id="5122" name="Picture 2" descr="What is Google's DeepMind Known For? A Look Into Their Major Breakthroughs  | by ODSC - Open Data Science | Medium">
            <a:extLst>
              <a:ext uri="{FF2B5EF4-FFF2-40B4-BE49-F238E27FC236}">
                <a16:creationId xmlns:a16="http://schemas.microsoft.com/office/drawing/2014/main" id="{BE3AC936-8D80-E50F-C735-BDADCAEB7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6728" y="56770"/>
            <a:ext cx="2376264" cy="1093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638A96F-A079-6998-FE18-BC9E6F809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4912" y="3507297"/>
            <a:ext cx="1563085" cy="31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46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1BAB3-CBCF-75CE-3EA9-17A7FB56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F1481D61-6402-16F9-09D5-7FBA7585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1331507"/>
            <a:ext cx="15613380" cy="3374552"/>
          </a:xfrm>
        </p:spPr>
        <p:txBody>
          <a:bodyPr/>
          <a:lstStyle/>
          <a:p>
            <a:pPr algn="just"/>
            <a:r>
              <a:rPr lang="pl-PL" dirty="0"/>
              <a:t>Chińska firma specjalizująca się w sztucznej inteligencji, w szczególności w przetwarzaniu języka naturalnego (NLP). Firma oferuje różne wersje własnych dużych modeli (DeepSeek-V3, DeepSeek-R1, </a:t>
            </a:r>
            <a:r>
              <a:rPr lang="pl-PL" dirty="0" err="1"/>
              <a:t>DeepSeek-Coder</a:t>
            </a:r>
            <a:r>
              <a:rPr lang="pl-PL" dirty="0"/>
              <a:t>). </a:t>
            </a:r>
            <a:r>
              <a:rPr lang="pl-PL" dirty="0" err="1"/>
              <a:t>DeepSeek</a:t>
            </a:r>
            <a:r>
              <a:rPr lang="pl-PL" dirty="0"/>
              <a:t> zyskał dużą popularność dzięki temu, że oferuje modele o dużych możliwościach i w pewnych wersjach darmowy dostęp. Część projektów jest licencjonowana jako MIT License - można używać, modyfikować i nawet używać komercyjnie, wystarczy zachować informacje o autorze/licencji. Modelowe wagi nie zawsze są zwykłym open-</a:t>
            </a:r>
            <a:r>
              <a:rPr lang="pl-PL" dirty="0" err="1"/>
              <a:t>source</a:t>
            </a:r>
            <a:r>
              <a:rPr lang="pl-PL" dirty="0"/>
              <a:t> i często podlegają własnej, niestandardowej licencji. Daje prawo do używania, kopiowania, modyfikowania i rozpowszechniania modelu, ze znacznymi ograniczeniami co do sposobów użycia (</a:t>
            </a:r>
            <a:r>
              <a:rPr lang="pl-PL" dirty="0" err="1"/>
              <a:t>DeepSeek</a:t>
            </a:r>
            <a:r>
              <a:rPr lang="pl-PL" dirty="0"/>
              <a:t> V3).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Kosztowne względem obliczeń.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5EE94677-0498-C888-3A0C-5EF2DFD1CB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6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8905DE82-1F79-AB90-BCF1-3D4C8EC1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356" y="392649"/>
            <a:ext cx="4032448" cy="595720"/>
          </a:xfrm>
        </p:spPr>
        <p:txBody>
          <a:bodyPr/>
          <a:lstStyle/>
          <a:p>
            <a:r>
              <a:rPr lang="pl-PL" dirty="0" err="1"/>
              <a:t>DeepSeek</a:t>
            </a:r>
            <a:endParaRPr lang="pl-PL" dirty="0"/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5980C4D6-533A-B660-55F4-3C2510D00D42}"/>
              </a:ext>
            </a:extLst>
          </p:cNvPr>
          <p:cNvCxnSpPr/>
          <p:nvPr/>
        </p:nvCxnSpPr>
        <p:spPr>
          <a:xfrm flipH="1">
            <a:off x="-46990" y="732042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2EBEAEB8-8EBC-D980-30ED-EBB53BFBB71F}"/>
              </a:ext>
            </a:extLst>
          </p:cNvPr>
          <p:cNvCxnSpPr/>
          <p:nvPr/>
        </p:nvCxnSpPr>
        <p:spPr>
          <a:xfrm flipH="1">
            <a:off x="0" y="5668888"/>
            <a:ext cx="1674813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E074E503-6EA6-CACD-42BF-9E56B11E79F0}"/>
              </a:ext>
            </a:extLst>
          </p:cNvPr>
          <p:cNvSpPr txBox="1">
            <a:spLocks/>
          </p:cNvSpPr>
          <p:nvPr/>
        </p:nvSpPr>
        <p:spPr>
          <a:xfrm>
            <a:off x="2121372" y="5355175"/>
            <a:ext cx="2376264" cy="62742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kern="0" dirty="0" err="1">
                <a:solidFill>
                  <a:sysClr val="windowText" lastClr="000000"/>
                </a:solidFill>
              </a:rPr>
              <a:t>xAI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F80C5C6E-4F94-B2F6-C34D-E8F8A6CDEA8E}"/>
              </a:ext>
            </a:extLst>
          </p:cNvPr>
          <p:cNvSpPr txBox="1">
            <a:spLocks/>
          </p:cNvSpPr>
          <p:nvPr/>
        </p:nvSpPr>
        <p:spPr>
          <a:xfrm>
            <a:off x="867410" y="6094538"/>
            <a:ext cx="15613380" cy="251257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kern="0" dirty="0">
                <a:solidFill>
                  <a:sysClr val="windowText" lastClr="000000"/>
                </a:solidFill>
              </a:rPr>
              <a:t>Firma założona przez </a:t>
            </a:r>
            <a:r>
              <a:rPr lang="pl-PL" kern="0" dirty="0" err="1">
                <a:solidFill>
                  <a:sysClr val="windowText" lastClr="000000"/>
                </a:solidFill>
              </a:rPr>
              <a:t>Elona</a:t>
            </a:r>
            <a:r>
              <a:rPr lang="pl-PL" kern="0" dirty="0">
                <a:solidFill>
                  <a:sysClr val="windowText" lastClr="000000"/>
                </a:solidFill>
              </a:rPr>
              <a:t> Muska, złożona z byłych pracowników pozostałych firm. Modele o szerokiej dostępności, open-</a:t>
            </a:r>
            <a:r>
              <a:rPr lang="pl-PL" kern="0" dirty="0" err="1">
                <a:solidFill>
                  <a:sysClr val="windowText" lastClr="000000"/>
                </a:solidFill>
              </a:rPr>
              <a:t>source</a:t>
            </a:r>
            <a:r>
              <a:rPr lang="pl-PL" kern="0" dirty="0">
                <a:solidFill>
                  <a:sysClr val="windowText" lastClr="000000"/>
                </a:solidFill>
              </a:rPr>
              <a:t> (Grok-1), mogą zostać wykorzystane we wszystkich branżach, gdzie wspomagają badania i rozwój. </a:t>
            </a:r>
          </a:p>
          <a:p>
            <a:pPr algn="just"/>
            <a:endParaRPr lang="pl-PL" b="1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dirty="0"/>
              <a:t>Licencja może zawierać niestandardowe ograniczenia, nazywane jako „</a:t>
            </a:r>
            <a:r>
              <a:rPr lang="pl-PL" dirty="0" err="1"/>
              <a:t>custom</a:t>
            </a:r>
            <a:r>
              <a:rPr lang="pl-PL" dirty="0"/>
              <a:t> </a:t>
            </a:r>
            <a:r>
              <a:rPr lang="pl-PL" dirty="0" err="1"/>
              <a:t>licence</a:t>
            </a:r>
            <a:r>
              <a:rPr lang="pl-PL" dirty="0"/>
              <a:t>”, czyli z dodatkowymi warunkami (Grok 2.5). Modele Grok 3 i 4 nie są powszechnie open-</a:t>
            </a:r>
            <a:r>
              <a:rPr lang="pl-PL" dirty="0" err="1"/>
              <a:t>source</a:t>
            </a:r>
            <a:r>
              <a:rPr lang="pl-PL" dirty="0"/>
              <a:t> i aby mieć do nich dostęp, należy wykupić API </a:t>
            </a:r>
            <a:r>
              <a:rPr lang="pl-PL" dirty="0" err="1"/>
              <a:t>xAI</a:t>
            </a:r>
            <a:r>
              <a:rPr lang="pl-PL" dirty="0"/>
              <a:t> lub poprzez integracje z partnerami firmy.</a:t>
            </a:r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  <a:p>
            <a:pPr algn="just"/>
            <a:endParaRPr lang="pl-PL" kern="0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1D7A3572-C636-B0B0-1CF0-0BE65A7AB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2743" y="5343833"/>
            <a:ext cx="564233" cy="62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eepSeek Logo Free Download SVG, PNG... · LobeHub">
            <a:extLst>
              <a:ext uri="{FF2B5EF4-FFF2-40B4-BE49-F238E27FC236}">
                <a16:creationId xmlns:a16="http://schemas.microsoft.com/office/drawing/2014/main" id="{A1762FF8-C14F-F5B8-80D2-099590AD6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2743" y="227228"/>
            <a:ext cx="1008111" cy="100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5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993F428A-CE3F-6650-CDF7-181D020A2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lIns="252000" tIns="180000" rIns="252000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Ollama </a:t>
            </a:r>
            <a:br>
              <a:rPr lang="pl-PL" b="1" dirty="0"/>
            </a:br>
            <a:endParaRPr lang="pl-PL" dirty="0"/>
          </a:p>
          <a:p>
            <a:pPr algn="just"/>
            <a:r>
              <a:rPr lang="pl-PL" dirty="0"/>
              <a:t>Ollama to framework do uruchamiania lokalnie modeli sztucznej inteligencji (LLM). Na tej platformie możliwe jest pobieranie, zarządzanie, uruchamianie modeli AI bez konieczności korzystania z chmury lub zewnętrznych serwerów. Narzędzie jest darmowe, open-</a:t>
            </a:r>
            <a:r>
              <a:rPr lang="pl-PL" dirty="0" err="1"/>
              <a:t>source</a:t>
            </a:r>
            <a:r>
              <a:rPr lang="pl-PL" dirty="0"/>
              <a:t>. Działa także bez </a:t>
            </a:r>
            <a:r>
              <a:rPr lang="pl-PL" dirty="0" err="1"/>
              <a:t>internetu</a:t>
            </a:r>
            <a:r>
              <a:rPr lang="pl-PL" dirty="0"/>
              <a:t> po pobraniu modelu.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Możliwa jest do pobrania darmowa aplikacja </a:t>
            </a:r>
            <a:r>
              <a:rPr lang="pl-PL" dirty="0" err="1"/>
              <a:t>Ollamy</a:t>
            </a:r>
            <a:r>
              <a:rPr lang="pl-PL" dirty="0"/>
              <a:t> do wpisywania </a:t>
            </a:r>
            <a:r>
              <a:rPr lang="pl-PL" dirty="0" err="1"/>
              <a:t>promptów</a:t>
            </a:r>
            <a:r>
              <a:rPr lang="pl-PL" dirty="0"/>
              <a:t> i testowania modelu (jako front-end modelu). Możliwe jest również puszczanie modelu w chmurze, ale może się to równać z licencją.</a:t>
            </a:r>
          </a:p>
          <a:p>
            <a:pPr algn="just"/>
            <a:endParaRPr lang="pl-PL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l-PL" sz="2400" dirty="0">
                <a:latin typeface="Agency FB" panose="020B0503020202020204" pitchFamily="34" charset="0"/>
              </a:rPr>
              <a:t>Licencja</a:t>
            </a:r>
          </a:p>
          <a:p>
            <a:pPr algn="just"/>
            <a:r>
              <a:rPr lang="pl-PL" dirty="0"/>
              <a:t>Poszczególne modele, które można ściągnąć i uruchomić w </a:t>
            </a:r>
            <a:r>
              <a:rPr lang="pl-PL" dirty="0" err="1"/>
              <a:t>Ollamie</a:t>
            </a:r>
            <a:r>
              <a:rPr lang="pl-PL" dirty="0"/>
              <a:t>, mogą mieć różne licencje. Modele, które są pobierane i korzystane lokalnie, są zazwyczaj darmowe. </a:t>
            </a:r>
          </a:p>
          <a:p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endParaRPr lang="pl-PL" dirty="0"/>
          </a:p>
          <a:p>
            <a:r>
              <a:rPr lang="pl-PL" dirty="0">
                <a:hlinkClick r:id="rId2"/>
              </a:rPr>
              <a:t>https://ollama.com</a:t>
            </a: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6A5958C6-C0E9-BCBD-FD7A-B90A23118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7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E4A45ED0-2944-D910-2CEC-CAA6043E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9606890" cy="1440160"/>
          </a:xfrm>
        </p:spPr>
        <p:txBody>
          <a:bodyPr/>
          <a:lstStyle/>
          <a:p>
            <a:r>
              <a:rPr lang="pl-PL" sz="4000" dirty="0"/>
              <a:t>Skąd brać modele?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D7966C10-FCAD-D511-1CB8-F7D1457A428C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4E9A9802-09E8-8CD1-A986-99CDD5B577D5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LOKALNIE – na własnym sprzęcie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108D60C5-FC78-E8FF-F410-BBD58C4CF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284" y="227228"/>
            <a:ext cx="5715000" cy="19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534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A7F80-F948-DE9E-A2A8-71E0A6DE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69FBC362-9924-4DB4-6C7F-17FAAA6B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57150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lIns="252000" tIns="180000" rIns="252000"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l-PL" b="1" dirty="0"/>
              <a:t>Hugging Face </a:t>
            </a:r>
            <a:br>
              <a:rPr lang="pl-PL" b="1" dirty="0"/>
            </a:br>
            <a:endParaRPr lang="pl-PL" dirty="0"/>
          </a:p>
          <a:p>
            <a:pPr algn="just"/>
            <a:r>
              <a:rPr lang="pl-PL" dirty="0"/>
              <a:t>Platforma i firma open-</a:t>
            </a:r>
            <a:r>
              <a:rPr lang="pl-PL" dirty="0" err="1"/>
              <a:t>source</a:t>
            </a:r>
            <a:r>
              <a:rPr lang="pl-PL" dirty="0"/>
              <a:t>, która udostępnia modele do uczenia maszynowego i AI, szczególnie modeli językowych (NLP), ale także multimodalnych. Jest to ogromna biblioteka gotowych modeli AI, ale także różne zbiory danych do trenowania modeli.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Platforma nie oferuje aplikacji jak Ollama. Jest możliwe puszczanie modelu w chmurze.</a:t>
            </a:r>
          </a:p>
          <a:p>
            <a:pPr algn="just"/>
            <a:endParaRPr lang="pl-PL" dirty="0"/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l-PL" sz="2400" dirty="0">
                <a:latin typeface="Agency FB" panose="020B0503020202020204" pitchFamily="34" charset="0"/>
              </a:rPr>
              <a:t>Licencja</a:t>
            </a:r>
          </a:p>
          <a:p>
            <a:pPr algn="just"/>
            <a:r>
              <a:rPr lang="pl-PL" dirty="0"/>
              <a:t>Hugging Face nie narzuca jednej licencji, więc zawsze trzeba sprawdzić licencję konkretnego modelu. Sama strona jest darmowa, a konto darmowe pozwala pobrać model, korzystać z bibliotek i uruchamiać proste demo. Płatne są większe zasoby w chmurze oraz prywatne repozytoria.</a:t>
            </a:r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r>
              <a:rPr lang="pl-PL" dirty="0">
                <a:hlinkClick r:id="rId2"/>
              </a:rPr>
              <a:t>https://huggingface.co</a:t>
            </a: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>
                <a:hlinkClick r:id="rId3"/>
              </a:rPr>
              <a:t>https://ollama.com</a:t>
            </a: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1F6DB326-E2E9-AAA1-B6A4-1B4D1E979A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8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394FC8F2-B9C7-F9D3-5035-2BF6CFCA7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9606890" cy="1440160"/>
          </a:xfrm>
        </p:spPr>
        <p:txBody>
          <a:bodyPr/>
          <a:lstStyle/>
          <a:p>
            <a:r>
              <a:rPr lang="pl-PL" sz="4000" dirty="0"/>
              <a:t>Skąd brać modele?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00414FFA-8369-9E3B-39B6-284A2717DA48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207DFFFD-7B21-464B-437C-90DFA6969E5A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LOKALNIE – na własnym sprzęcie</a:t>
            </a:r>
          </a:p>
        </p:txBody>
      </p:sp>
      <p:pic>
        <p:nvPicPr>
          <p:cNvPr id="1026" name="Picture 2" descr="Hugging Face logo - Noma Security">
            <a:extLst>
              <a:ext uri="{FF2B5EF4-FFF2-40B4-BE49-F238E27FC236}">
                <a16:creationId xmlns:a16="http://schemas.microsoft.com/office/drawing/2014/main" id="{7C8307B6-FEC7-0BEC-CEF9-EE17DB572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000" y="227228"/>
            <a:ext cx="7254925" cy="1928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782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1393-D9BB-DFB6-9481-70CCE309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4F68B5CD-6B87-DE99-1640-BDA8B0811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lIns="252000" tIns="180000" rIns="252000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b="1" dirty="0"/>
              <a:t>AWS – Amazon Web Services – </a:t>
            </a:r>
            <a:r>
              <a:rPr lang="pl-PL" i="1" dirty="0" err="1"/>
              <a:t>cyberbezpieczeństwo</a:t>
            </a:r>
            <a:r>
              <a:rPr lang="pl-PL" i="1" dirty="0"/>
              <a:t> :c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b="1" dirty="0"/>
          </a:p>
          <a:p>
            <a:pPr algn="just"/>
            <a:r>
              <a:rPr lang="pl-PL" dirty="0"/>
              <a:t>Największa na świecie platforma chmurowa oferująca setki usług IT, jak moc obliczeniowa, przechowywanie danych, bazy danych, analityka czy AI. Pozwala na skalowanie aplikacji i infrastruktury bez konieczności budowania własnych serwerowni. Z modelami AI, które znajdują się w chmurze, można połączyć poprzez API, korzystając z modułu w </a:t>
            </a:r>
            <a:r>
              <a:rPr lang="pl-PL" dirty="0" err="1"/>
              <a:t>Pythonie</a:t>
            </a:r>
            <a:r>
              <a:rPr lang="pl-PL" dirty="0"/>
              <a:t>. Nie oferuje modeli GPT i </a:t>
            </a:r>
            <a:r>
              <a:rPr lang="pl-PL" dirty="0" err="1"/>
              <a:t>OpenAI</a:t>
            </a:r>
            <a:r>
              <a:rPr lang="pl-PL" dirty="0"/>
              <a:t>.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Płatne są jedynie faktyczne wykorzystane zasoby.</a:t>
            </a:r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b="1" dirty="0" err="1"/>
              <a:t>Azure</a:t>
            </a:r>
            <a:r>
              <a:rPr lang="pl-PL" b="1" dirty="0"/>
              <a:t> </a:t>
            </a:r>
            <a:endParaRPr lang="pl-PL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b="1" dirty="0"/>
          </a:p>
          <a:p>
            <a:pPr algn="just"/>
            <a:r>
              <a:rPr lang="pl-PL" dirty="0"/>
              <a:t>Kompleksowa, publiczna platforma chmurowa od Microsoft, która pozwala firmom i deweloperom na tworzenie i zarządzanie aplikacjami bez inwestowania we własną serwerownię. Obejmuje szeroki zakres usług – przechowywanie danych, bazy danych, analizy, sieci, sztuczna inteligencja. </a:t>
            </a:r>
            <a:r>
              <a:rPr lang="pl-PL" dirty="0" err="1"/>
              <a:t>Azure</a:t>
            </a:r>
            <a:r>
              <a:rPr lang="pl-PL" dirty="0"/>
              <a:t>, tak jak AWS, </a:t>
            </a:r>
            <a:r>
              <a:rPr lang="pl-PL" dirty="0" err="1"/>
              <a:t>udostepnia</a:t>
            </a:r>
            <a:r>
              <a:rPr lang="pl-PL" dirty="0"/>
              <a:t> modele AI w chmurze. W swojej ofercie posiada modele </a:t>
            </a:r>
            <a:r>
              <a:rPr lang="pl-PL" dirty="0" err="1"/>
              <a:t>OpenAI</a:t>
            </a:r>
            <a:r>
              <a:rPr lang="pl-PL" dirty="0"/>
              <a:t>, GPT-4, Meta, Mistral.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F1FC51D6-CBBA-AF46-3263-A5875086A6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9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E83F64F2-6090-459F-D49C-7F0273A5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9606890" cy="1440160"/>
          </a:xfrm>
        </p:spPr>
        <p:txBody>
          <a:bodyPr/>
          <a:lstStyle/>
          <a:p>
            <a:r>
              <a:rPr lang="pl-PL" sz="4000" dirty="0"/>
              <a:t>Skąd brać modele?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DD037C0C-EFE5-2921-A8C1-501C7320E0AD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B4FBDB3E-2852-E242-715A-27A8633490EA}"/>
              </a:ext>
            </a:extLst>
          </p:cNvPr>
          <p:cNvSpPr txBox="1">
            <a:spLocks/>
          </p:cNvSpPr>
          <p:nvPr/>
        </p:nvSpPr>
        <p:spPr>
          <a:xfrm>
            <a:off x="14419827" y="1247402"/>
            <a:ext cx="2190066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W CHMURZE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94430BE1-A043-5226-A844-106EF5276A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42652" y="1200808"/>
            <a:ext cx="638200" cy="6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8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B1E75-A28A-5466-1B83-A184891E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4949A3F6-6EBC-7CB3-A2F9-152CF9F5FE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10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4F01F754-FA8B-654E-8EF8-43D488A3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9606890" cy="1440160"/>
          </a:xfrm>
        </p:spPr>
        <p:txBody>
          <a:bodyPr/>
          <a:lstStyle/>
          <a:p>
            <a:r>
              <a:rPr lang="pl-PL" sz="4000" dirty="0"/>
              <a:t>Skąd brać modele?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025289D7-406B-3952-A281-B4A449CAF3B8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A2BD87AE-7722-BAA7-6C5D-143921FEEDB7}"/>
              </a:ext>
            </a:extLst>
          </p:cNvPr>
          <p:cNvSpPr txBox="1">
            <a:spLocks/>
          </p:cNvSpPr>
          <p:nvPr/>
        </p:nvSpPr>
        <p:spPr>
          <a:xfrm>
            <a:off x="14419827" y="1247402"/>
            <a:ext cx="2190066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40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W CHMURZE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68B446E3-BBC6-9935-19D0-44AD3A2CC9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642652" y="1200808"/>
            <a:ext cx="638200" cy="638200"/>
          </a:xfrm>
          <a:prstGeom prst="rect">
            <a:avLst/>
          </a:prstGeom>
        </p:spPr>
      </p:pic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A54FFA11-1245-9E11-0AF5-F8EC4A968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sz="2000" dirty="0"/>
              <a:t>Porównanie ofert obu platform chmurowych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57A42FE-26B2-47C6-1A10-6E77FBC9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268489"/>
              </p:ext>
            </p:extLst>
          </p:nvPr>
        </p:nvGraphicFramePr>
        <p:xfrm>
          <a:off x="861035" y="2716560"/>
          <a:ext cx="15008124" cy="49233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5002708">
                  <a:extLst>
                    <a:ext uri="{9D8B030D-6E8A-4147-A177-3AD203B41FA5}">
                      <a16:colId xmlns:a16="http://schemas.microsoft.com/office/drawing/2014/main" val="3757197671"/>
                    </a:ext>
                  </a:extLst>
                </a:gridCol>
                <a:gridCol w="5002708">
                  <a:extLst>
                    <a:ext uri="{9D8B030D-6E8A-4147-A177-3AD203B41FA5}">
                      <a16:colId xmlns:a16="http://schemas.microsoft.com/office/drawing/2014/main" val="2939078503"/>
                    </a:ext>
                  </a:extLst>
                </a:gridCol>
                <a:gridCol w="5002708">
                  <a:extLst>
                    <a:ext uri="{9D8B030D-6E8A-4147-A177-3AD203B41FA5}">
                      <a16:colId xmlns:a16="http://schemas.microsoft.com/office/drawing/2014/main" val="422568434"/>
                    </a:ext>
                  </a:extLst>
                </a:gridCol>
              </a:tblGrid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Obszar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 dirty="0" err="1"/>
                        <a:t>Azure</a:t>
                      </a:r>
                      <a:endParaRPr lang="pl-PL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 dirty="0"/>
                        <a:t>AWS</a:t>
                      </a:r>
                      <a:endParaRPr lang="pl-PL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466165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 dirty="0"/>
                        <a:t>Flagowa usługa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Azure OpenAI Service</a:t>
                      </a:r>
                      <a:endParaRPr lang="pl-PL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b="1"/>
                        <a:t>Amazon Bedrock</a:t>
                      </a:r>
                      <a:endParaRPr lang="pl-PL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30742731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GPT-4 / 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✅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❌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105939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Modele OpenAI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✅ (ekskluzywnie)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002446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Modele Meta (Llama)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945092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Modele Mistral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013838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Modele Anthropic (Claude)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87077"/>
                  </a:ext>
                </a:extLst>
              </a:tr>
              <a:tr h="615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Modele Amazon (Titan)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16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108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F40C-0B18-9F3A-89C3-8C6B8F0D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38136508-F256-AE8A-F7B5-6C16A33BF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6423625" cy="1985400"/>
          </a:xfrm>
        </p:spPr>
        <p:txBody>
          <a:bodyPr/>
          <a:lstStyle/>
          <a:p>
            <a:pPr algn="just"/>
            <a:r>
              <a:rPr lang="pl-PL" sz="1400" dirty="0"/>
              <a:t>ESMO jest Europejskim Towarzystwem Onkologii Medycznej. Reprezentując ponad 50 000 członków na całym świecie, ESMO jest punktem odniesienia dla edukacji i informacji onkologicznej.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Podstawową misją ESMO jest poprawa jakości opieki onkologicznej, od profilaktyki i diagnostyki po opiekę paliatywną i obserwację pacjenta. Ma na celu edukację – lekarzy, pacjentów chorych na raka i ogółu społeczeństwa – w zakresie najlepszych praktyk i najnowszych osiągnięć onkologii. I ma promować równy dostęp do optymalnej opieki onkologicznej dla wszystkich pacjentów.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912EE773-0A96-1ADD-02C9-8D19CDB5C8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11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FBB315F0-2DC2-4F50-10DF-E310022F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035" y="1054083"/>
            <a:ext cx="2766130" cy="650760"/>
          </a:xfrm>
          <a:ln w="38100">
            <a:solidFill>
              <a:srgbClr val="C00000"/>
            </a:solidFill>
          </a:ln>
        </p:spPr>
        <p:txBody>
          <a:bodyPr anchor="ctr"/>
          <a:lstStyle/>
          <a:p>
            <a:pPr algn="ctr"/>
            <a:r>
              <a:rPr lang="pl-PL" dirty="0"/>
              <a:t>ESMO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08660E7-4C06-BC86-B583-166FCE1925D1}"/>
              </a:ext>
            </a:extLst>
          </p:cNvPr>
          <p:cNvSpPr txBox="1"/>
          <p:nvPr/>
        </p:nvSpPr>
        <p:spPr>
          <a:xfrm>
            <a:off x="15086084" y="223483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gency FB" panose="020B0503020202020204" pitchFamily="34" charset="0"/>
                <a:cs typeface="Aldhabi" panose="020F0502020204030204" pitchFamily="2" charset="-78"/>
              </a:rPr>
              <a:t>Wytyczne kliniczne</a:t>
            </a: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6D3D135A-3230-3371-44D3-98E42C88DC15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137260B1-1DD8-15D3-094D-E5452C0E7EB0}"/>
              </a:ext>
            </a:extLst>
          </p:cNvPr>
          <p:cNvSpPr txBox="1">
            <a:spLocks/>
          </p:cNvSpPr>
          <p:nvPr/>
        </p:nvSpPr>
        <p:spPr>
          <a:xfrm>
            <a:off x="867410" y="412304"/>
            <a:ext cx="9606890" cy="14401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sz="4000" kern="0" dirty="0">
                <a:solidFill>
                  <a:sysClr val="windowText" lastClr="000000"/>
                </a:solidFill>
              </a:rPr>
              <a:t>Skąd brać dane?</a:t>
            </a: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D8C383C6-69B8-00A6-3F2C-D6E4CAFA9782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pl-PL" sz="3600" kern="0" dirty="0">
              <a:solidFill>
                <a:sysClr val="windowText" lastClr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96277323-BC32-F4D6-8DB1-8DDBCFA0A29C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Publiczne dane</a:t>
            </a:r>
          </a:p>
        </p:txBody>
      </p:sp>
      <p:sp>
        <p:nvSpPr>
          <p:cNvPr id="10" name="Symbol zastępczy tekstu 1">
            <a:extLst>
              <a:ext uri="{FF2B5EF4-FFF2-40B4-BE49-F238E27FC236}">
                <a16:creationId xmlns:a16="http://schemas.microsoft.com/office/drawing/2014/main" id="{3E2B8A2D-0B45-6B89-38C6-00BE23E4ADAB}"/>
              </a:ext>
            </a:extLst>
          </p:cNvPr>
          <p:cNvSpPr txBox="1">
            <a:spLocks/>
          </p:cNvSpPr>
          <p:nvPr/>
        </p:nvSpPr>
        <p:spPr>
          <a:xfrm>
            <a:off x="8860299" y="2162504"/>
            <a:ext cx="7734682" cy="220142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l-PL" sz="1600" dirty="0"/>
              <a:t>W zależności od dokumentu z wytycznymi ESMO opisuje: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l-PL" sz="1600" dirty="0"/>
              <a:t>Diagnostykę,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l-PL" sz="1600" dirty="0"/>
              <a:t>klasyfikację i stadia zaawansowania,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l-PL" sz="1600" dirty="0"/>
              <a:t>leczenie chirurgiczne, systemowe i celowane,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l-PL" sz="1600" dirty="0"/>
              <a:t>leczenie wspomagające i nadzór po terapii,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l-PL" sz="1600" dirty="0"/>
              <a:t>algorytmy postępowania klinicznego z wyraźnymi ocenami siły dowodów.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kern="0" dirty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kern="0" dirty="0">
              <a:solidFill>
                <a:sysClr val="windowText" lastClr="000000"/>
              </a:solidFill>
            </a:endParaRPr>
          </a:p>
        </p:txBody>
      </p:sp>
      <p:sp>
        <p:nvSpPr>
          <p:cNvPr id="15" name="Symbol zastępczy tekstu 1">
            <a:extLst>
              <a:ext uri="{FF2B5EF4-FFF2-40B4-BE49-F238E27FC236}">
                <a16:creationId xmlns:a16="http://schemas.microsoft.com/office/drawing/2014/main" id="{A2DD23C4-6FD8-73C9-2597-F1234199C381}"/>
              </a:ext>
            </a:extLst>
          </p:cNvPr>
          <p:cNvSpPr txBox="1">
            <a:spLocks/>
          </p:cNvSpPr>
          <p:nvPr/>
        </p:nvSpPr>
        <p:spPr>
          <a:xfrm>
            <a:off x="10834341" y="700336"/>
            <a:ext cx="5760640" cy="123834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https://www.esmo.org/guidelines/esmo-clinical-practice-guidelines-endocrine-and-neuroendocrine-cancers</a:t>
            </a:r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3"/>
              </a:rPr>
              <a:t>https://www.esmo.org/guidelines/esmo-clinical-practice-guideline-thyroid-cancer</a:t>
            </a:r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</p:txBody>
      </p:sp>
      <p:sp>
        <p:nvSpPr>
          <p:cNvPr id="18" name="Symbol zastępczy tekstu 1">
            <a:extLst>
              <a:ext uri="{FF2B5EF4-FFF2-40B4-BE49-F238E27FC236}">
                <a16:creationId xmlns:a16="http://schemas.microsoft.com/office/drawing/2014/main" id="{191B70BE-58A6-AB24-870C-EC12BCBF62D5}"/>
              </a:ext>
            </a:extLst>
          </p:cNvPr>
          <p:cNvSpPr txBox="1">
            <a:spLocks/>
          </p:cNvSpPr>
          <p:nvPr/>
        </p:nvSpPr>
        <p:spPr>
          <a:xfrm>
            <a:off x="1019810" y="4597152"/>
            <a:ext cx="6423625" cy="16973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b="1" kern="0" dirty="0">
                <a:solidFill>
                  <a:sysClr val="windowText" lastClr="000000"/>
                </a:solidFill>
              </a:rPr>
              <a:t>Wytyczne wychodzą aktualnie mniej więcej co 1-3 lata. Publikuje również streszczenia wytycznych, algorytmy leczenia oraz narzędzia pomocnicze </a:t>
            </a:r>
          </a:p>
        </p:txBody>
      </p:sp>
      <p:pic>
        <p:nvPicPr>
          <p:cNvPr id="12" name="Obraz 11" descr="Obraz zawierający tekst, Czcionka, zrzut ekranu, algebra&#10;&#10;Zawartość wygenerowana przez AI może być niepoprawna.">
            <a:extLst>
              <a:ext uri="{FF2B5EF4-FFF2-40B4-BE49-F238E27FC236}">
                <a16:creationId xmlns:a16="http://schemas.microsoft.com/office/drawing/2014/main" id="{844685CD-774B-29CC-21C7-3F9E2D929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97" y="5740896"/>
            <a:ext cx="6484435" cy="1393301"/>
          </a:xfrm>
          <a:prstGeom prst="rect">
            <a:avLst/>
          </a:prstGeom>
        </p:spPr>
      </p:pic>
      <p:pic>
        <p:nvPicPr>
          <p:cNvPr id="16" name="Obraz 15" descr="Obraz zawierający tekst, Czcionka, zrzut ekranu, algebra&#10;&#10;Zawartość wygenerowana przez AI może być niepoprawna.">
            <a:extLst>
              <a:ext uri="{FF2B5EF4-FFF2-40B4-BE49-F238E27FC236}">
                <a16:creationId xmlns:a16="http://schemas.microsoft.com/office/drawing/2014/main" id="{7F682AB1-F5CC-ECBF-0C02-3ED2AD70DF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097" y="7051694"/>
            <a:ext cx="6846912" cy="1509988"/>
          </a:xfrm>
          <a:prstGeom prst="rect">
            <a:avLst/>
          </a:prstGeom>
        </p:spPr>
      </p:pic>
      <p:pic>
        <p:nvPicPr>
          <p:cNvPr id="19" name="Obraz 1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81711411-95E1-9B7F-97E3-8ABB03376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6722" y="5808235"/>
            <a:ext cx="5227390" cy="1447585"/>
          </a:xfrm>
          <a:prstGeom prst="rect">
            <a:avLst/>
          </a:prstGeom>
        </p:spPr>
      </p:pic>
      <p:pic>
        <p:nvPicPr>
          <p:cNvPr id="21" name="Obraz 20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F127607-B390-36A7-76F9-482BC77574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045" y="7255406"/>
            <a:ext cx="6098647" cy="121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90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A79C-3B47-4FA6-E77D-94B0C951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BA7CBF5F-1F3F-94AE-C617-C57C30183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6423625" cy="1697368"/>
          </a:xfrm>
        </p:spPr>
        <p:txBody>
          <a:bodyPr/>
          <a:lstStyle/>
          <a:p>
            <a:pPr algn="just"/>
            <a:r>
              <a:rPr lang="pl-PL" sz="1400" dirty="0"/>
              <a:t>Członkowie </a:t>
            </a:r>
            <a:r>
              <a:rPr lang="pl-PL" sz="1400" b="1" dirty="0"/>
              <a:t>American </a:t>
            </a:r>
            <a:r>
              <a:rPr lang="pl-PL" sz="1400" b="1" dirty="0" err="1"/>
              <a:t>Thyroid</a:t>
            </a:r>
            <a:r>
              <a:rPr lang="pl-PL" sz="1400" b="1" dirty="0"/>
              <a:t> </a:t>
            </a:r>
            <a:r>
              <a:rPr lang="pl-PL" sz="1400" b="1" dirty="0" err="1"/>
              <a:t>Association</a:t>
            </a:r>
            <a:r>
              <a:rPr lang="pl-PL" sz="1400" b="1" dirty="0"/>
              <a:t> </a:t>
            </a:r>
            <a:r>
              <a:rPr lang="pl-PL" sz="1400" dirty="0"/>
              <a:t>to specjaliści w dziedzinie tarczycy, którzy dążą do transformacji opieki nad tarczycą poprzez doskonałość kliniczną, edukację, odkrycia naukowe i orędownictwo w ramach społeczności opartej na współpracy.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Wytyczne zostały opracowane przez zespoły zadaniowe ds. wytycznych Amerykańskiego Stowarzyszenia Tarczycy, wybrane ze względu na ich wiedzę specjalistyczną w tym temacie.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EAFE10C-C23E-8EAE-A709-E10CDCBD9B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12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BD76E5A9-2987-B83C-653B-84D5B849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035" y="1054083"/>
            <a:ext cx="2766130" cy="650760"/>
          </a:xfrm>
          <a:ln w="38100">
            <a:solidFill>
              <a:srgbClr val="C00000"/>
            </a:solidFill>
          </a:ln>
        </p:spPr>
        <p:txBody>
          <a:bodyPr anchor="ctr"/>
          <a:lstStyle/>
          <a:p>
            <a:pPr algn="ctr"/>
            <a:r>
              <a:rPr lang="pl-PL" dirty="0"/>
              <a:t>ATA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4000BC9-3D41-909A-9073-CFA350F34335}"/>
              </a:ext>
            </a:extLst>
          </p:cNvPr>
          <p:cNvSpPr txBox="1"/>
          <p:nvPr/>
        </p:nvSpPr>
        <p:spPr>
          <a:xfrm>
            <a:off x="15086084" y="223483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gency FB" panose="020B0503020202020204" pitchFamily="34" charset="0"/>
                <a:cs typeface="Aldhabi" panose="020F0502020204030204" pitchFamily="2" charset="-78"/>
              </a:rPr>
              <a:t>Wytyczne kliniczne</a:t>
            </a: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04744D70-365B-DC33-01DB-99E4458990D2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F5B64E6E-70AF-4D0D-AE2F-AF3A36C43178}"/>
              </a:ext>
            </a:extLst>
          </p:cNvPr>
          <p:cNvSpPr txBox="1">
            <a:spLocks/>
          </p:cNvSpPr>
          <p:nvPr/>
        </p:nvSpPr>
        <p:spPr>
          <a:xfrm>
            <a:off x="867410" y="412304"/>
            <a:ext cx="9606890" cy="14401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sz="4000" kern="0" dirty="0">
                <a:solidFill>
                  <a:sysClr val="windowText" lastClr="000000"/>
                </a:solidFill>
              </a:rPr>
              <a:t>Skąd brać dane?</a:t>
            </a: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7EE6A615-C80B-90CD-0E3C-E1CE26EF75CF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pl-PL" sz="3600" kern="0" dirty="0">
              <a:solidFill>
                <a:sysClr val="windowText" lastClr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0E9C1306-9776-7A86-7798-1C1F148FB042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Publiczne dane</a:t>
            </a:r>
          </a:p>
        </p:txBody>
      </p:sp>
      <p:sp>
        <p:nvSpPr>
          <p:cNvPr id="10" name="Symbol zastępczy tekstu 1">
            <a:extLst>
              <a:ext uri="{FF2B5EF4-FFF2-40B4-BE49-F238E27FC236}">
                <a16:creationId xmlns:a16="http://schemas.microsoft.com/office/drawing/2014/main" id="{07535004-FA21-75B0-BAF9-7B05C2D23093}"/>
              </a:ext>
            </a:extLst>
          </p:cNvPr>
          <p:cNvSpPr txBox="1">
            <a:spLocks/>
          </p:cNvSpPr>
          <p:nvPr/>
        </p:nvSpPr>
        <p:spPr>
          <a:xfrm>
            <a:off x="9830953" y="2243328"/>
            <a:ext cx="6649837" cy="515375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l-PL" sz="1600" dirty="0"/>
              <a:t>ATA koncentruje się wyłącznie na: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tarczycy,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przytarczycach,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biologii hormonów tarczycy.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dirty="0"/>
          </a:p>
          <a:p>
            <a:r>
              <a:rPr lang="pl-PL" sz="1600" b="1" dirty="0"/>
              <a:t>Tworzy najbardziej kompleksowe wytyczne kliniczne dla raka tarczycy</a:t>
            </a:r>
            <a:r>
              <a:rPr lang="pl-PL" sz="1600" dirty="0"/>
              <a:t>.</a:t>
            </a:r>
          </a:p>
          <a:p>
            <a:endParaRPr lang="pl-PL" sz="1600" dirty="0"/>
          </a:p>
          <a:p>
            <a:pPr>
              <a:lnSpc>
                <a:spcPct val="150000"/>
              </a:lnSpc>
            </a:pPr>
            <a:r>
              <a:rPr lang="pl-PL" sz="1600" dirty="0"/>
              <a:t>ATA publikuje wytyczne dla: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zróżnicowanego raka tarczycy (brodawkowaty, pęcherzykowy),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rdzeniastego</a:t>
            </a:r>
            <a:r>
              <a:rPr lang="pl-PL" sz="1600" dirty="0"/>
              <a:t> raka tarczycy (MTC),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 err="1"/>
              <a:t>anaplastycznego</a:t>
            </a:r>
            <a:r>
              <a:rPr lang="pl-PL" sz="1600" dirty="0"/>
              <a:t> raka tarczycy (ATC),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nowotworów tarczycy u dzieci,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chorób </a:t>
            </a:r>
            <a:r>
              <a:rPr lang="pl-PL" sz="1600" dirty="0" err="1"/>
              <a:t>przednowotworowych</a:t>
            </a:r>
            <a:r>
              <a:rPr lang="pl-PL" sz="1600" dirty="0"/>
              <a:t> i zmian granicznych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kern="0" dirty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kern="0" dirty="0">
              <a:solidFill>
                <a:sysClr val="windowText" lastClr="000000"/>
              </a:solidFill>
            </a:endParaRPr>
          </a:p>
        </p:txBody>
      </p:sp>
      <p:sp>
        <p:nvSpPr>
          <p:cNvPr id="15" name="Symbol zastępczy tekstu 1">
            <a:extLst>
              <a:ext uri="{FF2B5EF4-FFF2-40B4-BE49-F238E27FC236}">
                <a16:creationId xmlns:a16="http://schemas.microsoft.com/office/drawing/2014/main" id="{68820B15-280B-2C1A-B5E2-A5D068E40F41}"/>
              </a:ext>
            </a:extLst>
          </p:cNvPr>
          <p:cNvSpPr txBox="1">
            <a:spLocks/>
          </p:cNvSpPr>
          <p:nvPr/>
        </p:nvSpPr>
        <p:spPr>
          <a:xfrm>
            <a:off x="10834340" y="700336"/>
            <a:ext cx="6423625" cy="46166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https://www.thyroid.org/professionals/ata-professional-guidelines/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  <p:sp>
        <p:nvSpPr>
          <p:cNvPr id="18" name="Symbol zastępczy tekstu 1">
            <a:extLst>
              <a:ext uri="{FF2B5EF4-FFF2-40B4-BE49-F238E27FC236}">
                <a16:creationId xmlns:a16="http://schemas.microsoft.com/office/drawing/2014/main" id="{944A5FF1-8EF5-FD24-CAE3-A31482752095}"/>
              </a:ext>
            </a:extLst>
          </p:cNvPr>
          <p:cNvSpPr txBox="1">
            <a:spLocks/>
          </p:cNvSpPr>
          <p:nvPr/>
        </p:nvSpPr>
        <p:spPr>
          <a:xfrm>
            <a:off x="1019810" y="4597152"/>
            <a:ext cx="6423625" cy="16973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b="1" kern="0" dirty="0">
                <a:solidFill>
                  <a:sysClr val="windowText" lastClr="000000"/>
                </a:solidFill>
              </a:rPr>
              <a:t>Wytyczne wychodzą aktualnie mniej więcej co 4 lata. </a:t>
            </a:r>
          </a:p>
        </p:txBody>
      </p:sp>
      <p:pic>
        <p:nvPicPr>
          <p:cNvPr id="13" name="Obraz 12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79E810F7-AB0E-BAD8-3B61-42E83BBF5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94" y="5193330"/>
            <a:ext cx="7734886" cy="331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95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1FC61E1F-3E5A-D907-8A14-72DEBAB0E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6423625" cy="1697368"/>
          </a:xfrm>
        </p:spPr>
        <p:txBody>
          <a:bodyPr/>
          <a:lstStyle/>
          <a:p>
            <a:pPr algn="just"/>
            <a:r>
              <a:rPr lang="pl-PL" sz="1400" dirty="0"/>
              <a:t>Główne, amerykańskie towarzystwo onkologiczne, skupiające lekarzy onkologów, hematologów i badaczy zajmujących się leczeniem nowotworów.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Wytyczne ASCO tworzone są z myślą o praktyce klinicznej w USA. Są one oparte na rygorystycznej analizie dowodów naukowych, randomizowanych badań klinicznych i metaanaliz. Proces tworzenia ich obejmuje uzasadnienie każdej rekomendacji.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41922B78-200C-271E-69C9-76CB333BB7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13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D3F540B9-04A2-8C9C-4142-32E63923B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035" y="1054083"/>
            <a:ext cx="2766130" cy="650760"/>
          </a:xfrm>
          <a:ln w="38100">
            <a:solidFill>
              <a:srgbClr val="C00000"/>
            </a:solidFill>
          </a:ln>
        </p:spPr>
        <p:txBody>
          <a:bodyPr anchor="ctr"/>
          <a:lstStyle/>
          <a:p>
            <a:pPr algn="ctr"/>
            <a:r>
              <a:rPr lang="pl-PL" dirty="0"/>
              <a:t>ASCO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558A171C-5716-18A6-B0ED-94DC9C58F035}"/>
              </a:ext>
            </a:extLst>
          </p:cNvPr>
          <p:cNvSpPr txBox="1"/>
          <p:nvPr/>
        </p:nvSpPr>
        <p:spPr>
          <a:xfrm>
            <a:off x="15086084" y="223483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gency FB" panose="020B0503020202020204" pitchFamily="34" charset="0"/>
                <a:cs typeface="Aldhabi" panose="020F0502020204030204" pitchFamily="2" charset="-78"/>
              </a:rPr>
              <a:t>Wytyczne kliniczne</a:t>
            </a: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FF2BB2DE-0D6B-7C37-9F34-93574248B6E7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BC6DA62B-D347-F412-03E9-F4C438DB17C9}"/>
              </a:ext>
            </a:extLst>
          </p:cNvPr>
          <p:cNvSpPr txBox="1">
            <a:spLocks/>
          </p:cNvSpPr>
          <p:nvPr/>
        </p:nvSpPr>
        <p:spPr>
          <a:xfrm>
            <a:off x="867410" y="412304"/>
            <a:ext cx="9606890" cy="14401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sz="4000" kern="0" dirty="0">
                <a:solidFill>
                  <a:sysClr val="windowText" lastClr="000000"/>
                </a:solidFill>
              </a:rPr>
              <a:t>Skąd brać dane?</a:t>
            </a: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ADA3DDA8-2186-EA09-47C1-10441B354385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pl-PL" sz="3600" kern="0" dirty="0">
              <a:solidFill>
                <a:sysClr val="windowText" lastClr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60942470-A17F-7FCD-35BB-4CB1B1F79B8A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Publiczne dane</a:t>
            </a:r>
          </a:p>
        </p:txBody>
      </p:sp>
      <p:sp>
        <p:nvSpPr>
          <p:cNvPr id="10" name="Symbol zastępczy tekstu 1">
            <a:extLst>
              <a:ext uri="{FF2B5EF4-FFF2-40B4-BE49-F238E27FC236}">
                <a16:creationId xmlns:a16="http://schemas.microsoft.com/office/drawing/2014/main" id="{B507C415-8439-4CA8-F63A-C27772B82C34}"/>
              </a:ext>
            </a:extLst>
          </p:cNvPr>
          <p:cNvSpPr txBox="1">
            <a:spLocks/>
          </p:cNvSpPr>
          <p:nvPr/>
        </p:nvSpPr>
        <p:spPr>
          <a:xfrm>
            <a:off x="9830953" y="2243328"/>
            <a:ext cx="6423625" cy="40511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b="1" kern="0" dirty="0">
                <a:solidFill>
                  <a:sysClr val="windowText" lastClr="000000"/>
                </a:solidFill>
              </a:rPr>
              <a:t>Na stronie ASCO można znaleźć wytyczne kliniczne dla nowotworów: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/>
              <a:t>Nowotwory układu oddechowego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/>
              <a:t>Nowotwory przewodu pokarmowego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/>
              <a:t>Nowotwory piersi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b="1" kern="0" dirty="0">
                <a:solidFill>
                  <a:sysClr val="windowText" lastClr="000000"/>
                </a:solidFill>
              </a:rPr>
              <a:t>Nowotwory endokrynologiczne i neuroendokrynne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kern="0" dirty="0">
                <a:solidFill>
                  <a:sysClr val="windowText" lastClr="000000"/>
                </a:solidFill>
              </a:rPr>
              <a:t>Nowotwory ginekologiczne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/>
              <a:t>Nowotwory układu moczowo-płciowego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l-PL" sz="1600" dirty="0"/>
              <a:t>Nowotwory głowy, szyi, skóry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dirty="0"/>
          </a:p>
          <a:p>
            <a:r>
              <a:rPr lang="pl-PL" sz="1600" dirty="0"/>
              <a:t>Na stronie ASCO można znaleźć także wiele artykułów naukowych na temat wszelakich nowotworów endokrynologicznych.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kern="0" dirty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l-PL" sz="1600" kern="0" dirty="0">
              <a:solidFill>
                <a:sysClr val="windowText" lastClr="000000"/>
              </a:solidFill>
            </a:endParaRPr>
          </a:p>
        </p:txBody>
      </p:sp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B57A8033-3B86-7BF3-9619-FBC96BB45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41" y="5689685"/>
            <a:ext cx="6805162" cy="884976"/>
          </a:xfrm>
          <a:prstGeom prst="rect">
            <a:avLst/>
          </a:prstGeom>
        </p:spPr>
      </p:pic>
      <p:pic>
        <p:nvPicPr>
          <p:cNvPr id="14" name="Obraz 13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84C40C15-5138-0A02-47DB-559291C6E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41" y="6695771"/>
            <a:ext cx="6268325" cy="814501"/>
          </a:xfrm>
          <a:prstGeom prst="rect">
            <a:avLst/>
          </a:prstGeom>
        </p:spPr>
      </p:pic>
      <p:sp>
        <p:nvSpPr>
          <p:cNvPr id="15" name="Symbol zastępczy tekstu 1">
            <a:extLst>
              <a:ext uri="{FF2B5EF4-FFF2-40B4-BE49-F238E27FC236}">
                <a16:creationId xmlns:a16="http://schemas.microsoft.com/office/drawing/2014/main" id="{1B9C025C-FDF7-2ED9-6704-415572200F04}"/>
              </a:ext>
            </a:extLst>
          </p:cNvPr>
          <p:cNvSpPr txBox="1">
            <a:spLocks/>
          </p:cNvSpPr>
          <p:nvPr/>
        </p:nvSpPr>
        <p:spPr>
          <a:xfrm>
            <a:off x="10834340" y="700336"/>
            <a:ext cx="6423625" cy="46166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4"/>
              </a:rPr>
              <a:t>https://ascopubs.org/topics/asco-guidelines/endocrine-neuroendocrine-cancer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  <p:pic>
        <p:nvPicPr>
          <p:cNvPr id="17" name="Obraz 16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7B95E9E1-3AA3-0E84-76A2-E5A144708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82" y="7631382"/>
            <a:ext cx="6043335" cy="828109"/>
          </a:xfrm>
          <a:prstGeom prst="rect">
            <a:avLst/>
          </a:prstGeom>
        </p:spPr>
      </p:pic>
      <p:sp>
        <p:nvSpPr>
          <p:cNvPr id="18" name="Symbol zastępczy tekstu 1">
            <a:extLst>
              <a:ext uri="{FF2B5EF4-FFF2-40B4-BE49-F238E27FC236}">
                <a16:creationId xmlns:a16="http://schemas.microsoft.com/office/drawing/2014/main" id="{FABC6B07-00F1-17C4-7753-25C03729C547}"/>
              </a:ext>
            </a:extLst>
          </p:cNvPr>
          <p:cNvSpPr txBox="1">
            <a:spLocks/>
          </p:cNvSpPr>
          <p:nvPr/>
        </p:nvSpPr>
        <p:spPr>
          <a:xfrm>
            <a:off x="1019810" y="4597152"/>
            <a:ext cx="6423625" cy="16973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b="1" kern="0" dirty="0">
                <a:solidFill>
                  <a:sysClr val="windowText" lastClr="000000"/>
                </a:solidFill>
              </a:rPr>
              <a:t>Wytyczne nie wychodzą regularnie, aktualizacje mogą pojawiać się co 1-2 lata, ale dla rzadszych nowotworów rzadziej.</a:t>
            </a:r>
          </a:p>
        </p:txBody>
      </p:sp>
    </p:spTree>
    <p:extLst>
      <p:ext uri="{BB962C8B-B14F-4D97-AF65-F5344CB8AC3E}">
        <p14:creationId xmlns:p14="http://schemas.microsoft.com/office/powerpoint/2010/main" val="397372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35704-4148-287C-1F6F-1BBE7CF89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827A499F-7887-A801-034D-CFDCA64D9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6423625" cy="1985400"/>
          </a:xfrm>
        </p:spPr>
        <p:txBody>
          <a:bodyPr/>
          <a:lstStyle/>
          <a:p>
            <a:pPr algn="just"/>
            <a:r>
              <a:rPr lang="pl-PL" sz="1400" dirty="0"/>
              <a:t>Krajowy Ośrodek Monitorujący (KOM) został powołany w ramach Narodowego Instytutu Onkologii im. Marii Skłodowskiej-Curie – Państwowego Instytutu Badawczego.</a:t>
            </a:r>
          </a:p>
          <a:p>
            <a:pPr algn="just"/>
            <a:endParaRPr lang="pl-PL" sz="1400" dirty="0"/>
          </a:p>
          <a:p>
            <a:pPr algn="just"/>
            <a:r>
              <a:rPr lang="pl-PL" sz="1400" dirty="0"/>
              <a:t>KOM pełni funkcję ogólnopolskiego ośrodka koordynującego, analitycznego i doradczego, odpowiedzialnego za monitorowanie jakości i skuteczności opieki onkologicznej w Polsce. Do zadań KOM należy realizacja działań wspierających funkcjonowanie Krajowej Sieci Onkologicznej (KSO), w szczególności w zakresie monitorowania jakości i skuteczności opieki onkologicznej oraz koordynacji procesów wdrażania standardów organizacyjnych i klinicznych na poziomie krajowym. 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69BC3AD6-6D74-786D-0624-8807D9C76A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14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B9AEC362-D3F6-81E8-6041-C9B730F3E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1035" y="1054083"/>
            <a:ext cx="2766130" cy="650760"/>
          </a:xfrm>
          <a:ln w="38100">
            <a:solidFill>
              <a:srgbClr val="C00000"/>
            </a:solidFill>
          </a:ln>
        </p:spPr>
        <p:txBody>
          <a:bodyPr anchor="ctr"/>
          <a:lstStyle/>
          <a:p>
            <a:pPr algn="ctr"/>
            <a:r>
              <a:rPr lang="pl-PL" dirty="0"/>
              <a:t>KOM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48BEA41-2D35-025D-CD6A-8E7295109A5A}"/>
              </a:ext>
            </a:extLst>
          </p:cNvPr>
          <p:cNvSpPr txBox="1"/>
          <p:nvPr/>
        </p:nvSpPr>
        <p:spPr>
          <a:xfrm>
            <a:off x="15086084" y="223483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gency FB" panose="020B0503020202020204" pitchFamily="34" charset="0"/>
                <a:cs typeface="Aldhabi" panose="020F0502020204030204" pitchFamily="2" charset="-78"/>
              </a:rPr>
              <a:t>Wytyczne kliniczne</a:t>
            </a: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4A46F95D-8981-BF97-69FC-D65BEDB327A9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60529BF0-832E-DA32-EE7F-A2339D139F5D}"/>
              </a:ext>
            </a:extLst>
          </p:cNvPr>
          <p:cNvSpPr txBox="1">
            <a:spLocks/>
          </p:cNvSpPr>
          <p:nvPr/>
        </p:nvSpPr>
        <p:spPr>
          <a:xfrm>
            <a:off x="867410" y="412304"/>
            <a:ext cx="9606890" cy="14401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sz="4000" kern="0" dirty="0">
                <a:solidFill>
                  <a:sysClr val="windowText" lastClr="000000"/>
                </a:solidFill>
              </a:rPr>
              <a:t>Skąd brać dane?</a:t>
            </a: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DA428A06-A2B4-B7DB-D727-30D27DCABD32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pl-PL" sz="3600" kern="0" dirty="0">
              <a:solidFill>
                <a:sysClr val="windowText" lastClr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3B59921E-95E1-297B-8B89-BF390A13ABCA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Publiczne dane</a:t>
            </a:r>
          </a:p>
        </p:txBody>
      </p:sp>
      <p:sp>
        <p:nvSpPr>
          <p:cNvPr id="15" name="Symbol zastępczy tekstu 1">
            <a:extLst>
              <a:ext uri="{FF2B5EF4-FFF2-40B4-BE49-F238E27FC236}">
                <a16:creationId xmlns:a16="http://schemas.microsoft.com/office/drawing/2014/main" id="{2A3BF616-851E-D364-A617-C9478459B1CF}"/>
              </a:ext>
            </a:extLst>
          </p:cNvPr>
          <p:cNvSpPr txBox="1">
            <a:spLocks/>
          </p:cNvSpPr>
          <p:nvPr/>
        </p:nvSpPr>
        <p:spPr>
          <a:xfrm>
            <a:off x="10834341" y="700335"/>
            <a:ext cx="5760640" cy="21443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https://kom.nio.gov.pl/rak-tarczycy</a:t>
            </a:r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3"/>
              </a:rPr>
              <a:t>https://kom.nio.gov.pl/rak-kory-nadnercza</a:t>
            </a:r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4"/>
              </a:rPr>
              <a:t>https://kom.nio.gov.pl/net-jelita-cienkiego-i-wyrostka-robaczkowego-jelita-grubego-oraz-trzustki</a:t>
            </a:r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5"/>
              </a:rPr>
              <a:t>https://kom.nio.gov.pl/net-przewodu-pokarmowego-oraz-zoladka-i-dwunastnicy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  <p:sp>
        <p:nvSpPr>
          <p:cNvPr id="18" name="Symbol zastępczy tekstu 1">
            <a:extLst>
              <a:ext uri="{FF2B5EF4-FFF2-40B4-BE49-F238E27FC236}">
                <a16:creationId xmlns:a16="http://schemas.microsoft.com/office/drawing/2014/main" id="{B478DB0C-1FFE-BB3D-DF1C-BAF3AE0D58E4}"/>
              </a:ext>
            </a:extLst>
          </p:cNvPr>
          <p:cNvSpPr txBox="1">
            <a:spLocks/>
          </p:cNvSpPr>
          <p:nvPr/>
        </p:nvSpPr>
        <p:spPr>
          <a:xfrm>
            <a:off x="867410" y="4876800"/>
            <a:ext cx="6423625" cy="169736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b="1" kern="0" dirty="0">
                <a:solidFill>
                  <a:sysClr val="windowText" lastClr="000000"/>
                </a:solidFill>
              </a:rPr>
              <a:t>W zależności od nowotworu, w tym przypadku typu endokrynologicznego, wytyczne wychodzą nieregularnie. Najczęściej jest to co 1-2 lata (w przypadku NET przewodu pokarmowego oraz żołądka i dwunastnicy).</a:t>
            </a:r>
          </a:p>
        </p:txBody>
      </p:sp>
      <p:pic>
        <p:nvPicPr>
          <p:cNvPr id="13" name="Obraz 12" descr="Obraz zawierający tekst, Czcionka, zrzut ekranu, informacja&#10;&#10;Zawartość wygenerowana przez AI może być niepoprawna.">
            <a:extLst>
              <a:ext uri="{FF2B5EF4-FFF2-40B4-BE49-F238E27FC236}">
                <a16:creationId xmlns:a16="http://schemas.microsoft.com/office/drawing/2014/main" id="{422C46FC-F90E-97B0-73B6-71BE5A6E1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7165" y="3116754"/>
            <a:ext cx="6091793" cy="1588379"/>
          </a:xfrm>
          <a:prstGeom prst="rect">
            <a:avLst/>
          </a:prstGeom>
        </p:spPr>
      </p:pic>
      <p:pic>
        <p:nvPicPr>
          <p:cNvPr id="17" name="Obraz 16" descr="Obraz zawierający tekst, zrzut ekranu, Czcionka, informacja&#10;&#10;Zawartość wygenerowana przez AI może być niepoprawna.">
            <a:extLst>
              <a:ext uri="{FF2B5EF4-FFF2-40B4-BE49-F238E27FC236}">
                <a16:creationId xmlns:a16="http://schemas.microsoft.com/office/drawing/2014/main" id="{D8185E71-DD18-90EB-1C43-AD3A28782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3703" y="4926763"/>
            <a:ext cx="6125255" cy="2085320"/>
          </a:xfrm>
          <a:prstGeom prst="rect">
            <a:avLst/>
          </a:prstGeom>
        </p:spPr>
      </p:pic>
      <p:sp>
        <p:nvSpPr>
          <p:cNvPr id="20" name="Symbol zastępczy tekstu 1">
            <a:extLst>
              <a:ext uri="{FF2B5EF4-FFF2-40B4-BE49-F238E27FC236}">
                <a16:creationId xmlns:a16="http://schemas.microsoft.com/office/drawing/2014/main" id="{4D4D0BDA-3833-23C7-0C1F-ECC2EDC1F1ED}"/>
              </a:ext>
            </a:extLst>
          </p:cNvPr>
          <p:cNvSpPr txBox="1">
            <a:spLocks/>
          </p:cNvSpPr>
          <p:nvPr/>
        </p:nvSpPr>
        <p:spPr>
          <a:xfrm>
            <a:off x="839282" y="6874360"/>
            <a:ext cx="7992888" cy="18251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80000" tIns="180000" rIns="18000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/>
              <a:t>Na stronie można także znaleźć </a:t>
            </a:r>
            <a:r>
              <a:rPr lang="pl-PL" sz="1400" b="1" kern="0" dirty="0"/>
              <a:t>ścieżki leczenia pacjenta</a:t>
            </a:r>
            <a:r>
              <a:rPr lang="pl-PL" sz="1400" kern="0" dirty="0"/>
              <a:t>, czyli gotowe schematy postępowania klinicznego i organizacyjnego dla wybranych nowotworów – praktyczne narzędzie zwiększające efektywność i kompleksowość opieki onkologicznej. Udostępnione schematy pełnią funkcję drogowskazów, a ostateczną decyzję co do diagnostyki i leczenia zawsze podejmuje lekarz, po uwzględnieniu wszystkich czynników.</a:t>
            </a:r>
          </a:p>
          <a:p>
            <a:pPr algn="just"/>
            <a:endParaRPr lang="pl-PL" sz="1400" kern="0" dirty="0"/>
          </a:p>
          <a:p>
            <a:pPr algn="just"/>
            <a:r>
              <a:rPr lang="pl-PL" sz="1400" kern="0" dirty="0">
                <a:hlinkClick r:id="rId8"/>
              </a:rPr>
              <a:t>https://kom.nio.gov.pl/rekomendacje</a:t>
            </a:r>
            <a:endParaRPr lang="pl-PL" sz="1400" kern="0" dirty="0"/>
          </a:p>
        </p:txBody>
      </p:sp>
      <p:cxnSp>
        <p:nvCxnSpPr>
          <p:cNvPr id="23" name="Łącznik prosty ze strzałką 22">
            <a:extLst>
              <a:ext uri="{FF2B5EF4-FFF2-40B4-BE49-F238E27FC236}">
                <a16:creationId xmlns:a16="http://schemas.microsoft.com/office/drawing/2014/main" id="{634624AD-87DA-D3DB-86AF-82FD1544AB85}"/>
              </a:ext>
            </a:extLst>
          </p:cNvPr>
          <p:cNvCxnSpPr/>
          <p:nvPr/>
        </p:nvCxnSpPr>
        <p:spPr>
          <a:xfrm>
            <a:off x="9034140" y="8045152"/>
            <a:ext cx="122413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ymbol zastępczy tekstu 1">
            <a:extLst>
              <a:ext uri="{FF2B5EF4-FFF2-40B4-BE49-F238E27FC236}">
                <a16:creationId xmlns:a16="http://schemas.microsoft.com/office/drawing/2014/main" id="{35153230-9723-BA45-0601-7305C160C486}"/>
              </a:ext>
            </a:extLst>
          </p:cNvPr>
          <p:cNvSpPr txBox="1">
            <a:spLocks/>
          </p:cNvSpPr>
          <p:nvPr/>
        </p:nvSpPr>
        <p:spPr>
          <a:xfrm>
            <a:off x="10478740" y="7945846"/>
            <a:ext cx="4320480" cy="4166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</a:rPr>
              <a:t>Nie ma ścieżek dla nowotworów endokrynologicznych :c</a:t>
            </a:r>
          </a:p>
        </p:txBody>
      </p:sp>
    </p:spTree>
    <p:extLst>
      <p:ext uri="{BB962C8B-B14F-4D97-AF65-F5344CB8AC3E}">
        <p14:creationId xmlns:p14="http://schemas.microsoft.com/office/powerpoint/2010/main" val="1895181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98E9B-B108-9620-0D40-68DAAC016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4E5CA454-22C9-66DE-FA4D-C5B473571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1951245"/>
            <a:ext cx="15613380" cy="6748272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2000" dirty="0"/>
              <a:t>Zbiór danych procesów leczenia pacjentów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>
                <a:hlinkClick r:id="rId2"/>
              </a:rPr>
              <a:t>https://data.mendeley.com/datasets/57726vkm48/1</a:t>
            </a:r>
            <a:endParaRPr lang="pl-PL" sz="1600" dirty="0"/>
          </a:p>
          <a:p>
            <a:pPr lvl="1"/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pl-PL" sz="2000" dirty="0">
                <a:latin typeface="Arial" panose="020B0604020202020204" pitchFamily="34" charset="0"/>
                <a:cs typeface="Arial" panose="020B0604020202020204" pitchFamily="34" charset="0"/>
              </a:rPr>
              <a:t>Otwarty, publicznie dostępny </a:t>
            </a:r>
            <a:r>
              <a:rPr lang="pl-PL" sz="20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l-PL" sz="2000" dirty="0">
                <a:latin typeface="Arial" panose="020B0604020202020204" pitchFamily="34" charset="0"/>
                <a:cs typeface="Arial" panose="020B0604020202020204" pitchFamily="34" charset="0"/>
              </a:rPr>
              <a:t> kliniczny pochodzący z rejestru kliniki </a:t>
            </a:r>
            <a:r>
              <a:rPr lang="pl-PL" sz="2000" dirty="0" err="1">
                <a:latin typeface="Arial" panose="020B0604020202020204" pitchFamily="34" charset="0"/>
                <a:cs typeface="Arial" panose="020B0604020202020204" pitchFamily="34" charset="0"/>
              </a:rPr>
              <a:t>Penn</a:t>
            </a:r>
            <a:r>
              <a:rPr lang="pl-PL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2000" dirty="0" err="1">
                <a:latin typeface="Arial" panose="020B0604020202020204" pitchFamily="34" charset="0"/>
                <a:cs typeface="Arial" panose="020B0604020202020204" pitchFamily="34" charset="0"/>
              </a:rPr>
              <a:t>Medicine</a:t>
            </a:r>
            <a:r>
              <a:rPr lang="pl-PL" sz="2000" dirty="0">
                <a:latin typeface="Arial" panose="020B0604020202020204" pitchFamily="34" charset="0"/>
                <a:cs typeface="Arial" panose="020B0604020202020204" pitchFamily="34" charset="0"/>
              </a:rPr>
              <a:t>, obejmujący dane pacjentów z rakiem tarczycy – nowotworem </a:t>
            </a:r>
            <a:r>
              <a:rPr lang="pl-PL" sz="2000" dirty="0" err="1">
                <a:latin typeface="Arial" panose="020B0604020202020204" pitchFamily="34" charset="0"/>
                <a:cs typeface="Arial" panose="020B0604020202020204" pitchFamily="34" charset="0"/>
              </a:rPr>
              <a:t>endokrynnym</a:t>
            </a:r>
            <a:r>
              <a:rPr lang="pl-PL" sz="2000" dirty="0">
                <a:latin typeface="Arial" panose="020B0604020202020204" pitchFamily="34" charset="0"/>
                <a:cs typeface="Arial" panose="020B0604020202020204" pitchFamily="34" charset="0"/>
              </a:rPr>
              <a:t>. Zawartość tego zbioru jest dobrze udokumentowana i pozbawiona danych osobowych.</a:t>
            </a:r>
          </a:p>
          <a:p>
            <a:pPr lvl="1" algn="just"/>
            <a:endParaRPr lang="pl-PL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l-PL" alt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Dane o 5351 guzach od 5127 pacjentów z rakiem tarczycy,</a:t>
            </a:r>
          </a:p>
          <a:p>
            <a:pPr lvl="1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l-PL" alt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informacje kliniczne i patologiczne,</a:t>
            </a:r>
          </a:p>
          <a:p>
            <a:pPr lvl="1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l-PL" alt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dane zostały zanonimizowane.</a:t>
            </a:r>
          </a:p>
          <a:p>
            <a:pPr lvl="1" algn="just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l-PL" altLang="pl-PL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Pliki powiązane z tym zestawem danych są objęte licencją CC BY 4.0 ! Można kopiować, pobierać i rozpowszechniać dane w dowolnym medium i formacie. Można je modyfikować, łączyć z innymi danymi, przetwarzać, trenować modele ML i AI, ale pod warunkiem, że prawidłowo zostaną przypisani autorzy. Aby pobrać </a:t>
            </a:r>
            <a:r>
              <a:rPr lang="pl-PL" altLang="pl-PL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l-PL" alt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trzeba być zalogowanym, ale potrzebne jest także dodatkowe </a:t>
            </a:r>
            <a:r>
              <a:rPr lang="pl-PL" altLang="pl-PL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zezwolenie ze strony autorów ( :c )</a:t>
            </a:r>
            <a:r>
              <a:rPr lang="pl-PL" alt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pl-PL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</a:t>
            </a:r>
            <a:r>
              <a:rPr lang="pl-PL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Własny </a:t>
            </a:r>
            <a:r>
              <a:rPr lang="pl-PL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pl-PL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sz="2000" dirty="0"/>
              <a:t>Artykuły i publikacje naukowe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79812270-9810-F3BE-5F61-126F511EC6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15</a:t>
            </a:fld>
            <a:endParaRPr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1A372B14-811F-D224-B90A-3AF841DE8033}"/>
              </a:ext>
            </a:extLst>
          </p:cNvPr>
          <p:cNvSpPr txBox="1"/>
          <p:nvPr/>
        </p:nvSpPr>
        <p:spPr>
          <a:xfrm>
            <a:off x="15086084" y="223483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>
                <a:latin typeface="Agency FB" panose="020B0503020202020204" pitchFamily="34" charset="0"/>
                <a:cs typeface="Aldhabi" panose="020F0502020204030204" pitchFamily="2" charset="-78"/>
              </a:rPr>
              <a:t>Wytyczne kliniczne</a:t>
            </a:r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E7D8833D-1B14-F8CE-BC03-D60F84F77A78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ytuł 3">
            <a:extLst>
              <a:ext uri="{FF2B5EF4-FFF2-40B4-BE49-F238E27FC236}">
                <a16:creationId xmlns:a16="http://schemas.microsoft.com/office/drawing/2014/main" id="{A7F695CC-066B-8ECF-4853-F2D5BB03CAD9}"/>
              </a:ext>
            </a:extLst>
          </p:cNvPr>
          <p:cNvSpPr txBox="1">
            <a:spLocks/>
          </p:cNvSpPr>
          <p:nvPr/>
        </p:nvSpPr>
        <p:spPr>
          <a:xfrm>
            <a:off x="867410" y="412304"/>
            <a:ext cx="9606890" cy="144016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r>
              <a:rPr lang="pl-PL" sz="4000" kern="0" dirty="0">
                <a:solidFill>
                  <a:sysClr val="windowText" lastClr="000000"/>
                </a:solidFill>
              </a:rPr>
              <a:t>Skąd brać dane?</a:t>
            </a:r>
          </a:p>
        </p:txBody>
      </p:sp>
      <p:sp>
        <p:nvSpPr>
          <p:cNvPr id="8" name="Symbol zastępczy tekstu 1">
            <a:extLst>
              <a:ext uri="{FF2B5EF4-FFF2-40B4-BE49-F238E27FC236}">
                <a16:creationId xmlns:a16="http://schemas.microsoft.com/office/drawing/2014/main" id="{8BEF1AB3-C2D8-9122-470A-BDD037840473}"/>
              </a:ext>
            </a:extLst>
          </p:cNvPr>
          <p:cNvSpPr txBox="1">
            <a:spLocks/>
          </p:cNvSpPr>
          <p:nvPr/>
        </p:nvSpPr>
        <p:spPr>
          <a:xfrm>
            <a:off x="867410" y="1247402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pl-PL" sz="3600" kern="0" dirty="0">
              <a:solidFill>
                <a:sysClr val="windowText" lastClr="000000"/>
              </a:solidFill>
              <a:latin typeface="Agency FB" panose="020B0503020202020204" pitchFamily="34" charset="0"/>
            </a:endParaRP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28935B02-BDBB-6F42-D2E7-084F8D68533A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Niepubliczne dane</a:t>
            </a:r>
          </a:p>
        </p:txBody>
      </p:sp>
    </p:spTree>
    <p:extLst>
      <p:ext uri="{BB962C8B-B14F-4D97-AF65-F5344CB8AC3E}">
        <p14:creationId xmlns:p14="http://schemas.microsoft.com/office/powerpoint/2010/main" val="3564424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4CE1E5A7-D37E-4912-879B-E4EAAD8D7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7806690" cy="6748272"/>
          </a:xfrm>
        </p:spPr>
        <p:txBody>
          <a:bodyPr/>
          <a:lstStyle/>
          <a:p>
            <a:pPr algn="just"/>
            <a:r>
              <a:rPr lang="pl-PL" dirty="0"/>
              <a:t>Sposób reprezentowania obiektów jako wektorów liczb rzeczywistych w przestrzeni wielowymiarowej. Embedding pozwala mierzyć podobieństwo między obiektami i dokonywać klasyfikację, wyszukiwanie semantyczne i rekomendacje. Redukuje wymiarowość danych, co przyspiesza działanie modeli.</a:t>
            </a:r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algn="just"/>
            <a:endParaRPr lang="pl-PL" dirty="0"/>
          </a:p>
          <a:p>
            <a:pPr algn="just"/>
            <a:endParaRPr lang="pl-PL" sz="18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pl-PL" sz="1800" dirty="0"/>
              <a:t>W projekcie zostałyby wykorzystane dwa modele – model LLM i model </a:t>
            </a:r>
            <a:r>
              <a:rPr lang="pl-PL" sz="1800" dirty="0" err="1"/>
              <a:t>embeddingowy</a:t>
            </a:r>
            <a:r>
              <a:rPr lang="pl-PL" sz="1800" dirty="0"/>
              <a:t> w architekturze RAG. Embedding przekształcałby zapytanie w wektor i pozwalał znaleźć semantycznie podobne fragmenty w bazie danych. Model LLM na tej podstawie generowałby pełną spójną odpowiedź opartą na źródłach.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2BF3368A-0AE5-551B-CC75-0F5D20700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16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A9083AD9-4E8A-0EFF-D458-451F7A52A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3279298" cy="648070"/>
          </a:xfrm>
        </p:spPr>
        <p:txBody>
          <a:bodyPr/>
          <a:lstStyle/>
          <a:p>
            <a:r>
              <a:rPr lang="pl-PL" dirty="0"/>
              <a:t>Przekształcenia i architektura przydatna w projekcie :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2FBFC41E-8C19-D271-C752-13ECAFFDE8E5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ymbol zastępczy tekstu 1">
            <a:extLst>
              <a:ext uri="{FF2B5EF4-FFF2-40B4-BE49-F238E27FC236}">
                <a16:creationId xmlns:a16="http://schemas.microsoft.com/office/drawing/2014/main" id="{E2E9B816-398F-47EB-643E-630716D82A86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1974042" cy="6912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EMBEDDING </a:t>
            </a:r>
          </a:p>
        </p:txBody>
      </p:sp>
      <p:pic>
        <p:nvPicPr>
          <p:cNvPr id="8" name="Obraz 7" descr="Obraz zawierający tekst, diagram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2A17B868-3B16-88B1-6FB2-B73868917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080" y="2243328"/>
            <a:ext cx="8423333" cy="4680520"/>
          </a:xfrm>
          <a:prstGeom prst="rect">
            <a:avLst/>
          </a:prstGeom>
        </p:spPr>
      </p:pic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F773DF14-1700-D1C4-4337-B8930AEF087F}"/>
              </a:ext>
            </a:extLst>
          </p:cNvPr>
          <p:cNvSpPr txBox="1">
            <a:spLocks/>
          </p:cNvSpPr>
          <p:nvPr/>
        </p:nvSpPr>
        <p:spPr>
          <a:xfrm>
            <a:off x="10402292" y="8529935"/>
            <a:ext cx="6423625" cy="46166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3"/>
              </a:rPr>
              <a:t>https://www.drmalinowski.edu.pl/posts/3326-embedding-w-sztucznej-inteligencji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876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1BC7F-6C7C-7DF2-B7F9-7B38CBED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6B3F1450-B621-631F-C275-CD763E961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15367530" cy="4001624"/>
          </a:xfrm>
        </p:spPr>
        <p:txBody>
          <a:bodyPr/>
          <a:lstStyle/>
          <a:p>
            <a:pPr algn="just" rtl="0">
              <a:lnSpc>
                <a:spcPct val="150000"/>
              </a:lnSpc>
            </a:pPr>
            <a:r>
              <a:rPr lang="pl-PL" dirty="0"/>
              <a:t>RAG to architektura systemu pozwalająca na generowanie wspomagane przez wyszukiwanie. RAG poprawia wydajność aplikacji sztucznej inteligencji poprzez wykorzystanie zewnętrznych baz wiedzy. Udoskonala ona duże modele językowe poprzez pobieranie informacji z różnych zestawów danych w celu generowania optymalnych wyników. Dogłębne zrozumienie RAG może pomóc w lepszym przygotowaniu się do uzyskiwania pożądanych odpowiedzi z modeli LLM, a jednocześnie w pokonaniu niektórych wyzwań związanych z ich wykorzystaniem, w tym nieaktualnych odpowiedzi lub odpowiedzi opartych na błędnych informacjach.</a:t>
            </a:r>
          </a:p>
          <a:p>
            <a:pPr algn="just">
              <a:lnSpc>
                <a:spcPct val="150000"/>
              </a:lnSpc>
            </a:pPr>
            <a:endParaRPr lang="pl-PL" dirty="0"/>
          </a:p>
          <a:p>
            <a:pPr algn="just">
              <a:lnSpc>
                <a:spcPct val="150000"/>
              </a:lnSpc>
            </a:pPr>
            <a:endParaRPr lang="pl-PL" dirty="0"/>
          </a:p>
          <a:p>
            <a:pPr algn="just">
              <a:lnSpc>
                <a:spcPct val="150000"/>
              </a:lnSpc>
            </a:pPr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D3D02978-9625-1937-16A7-D872524F5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17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FC037520-E59D-3B0A-8C6E-0A28CA541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13351306" cy="648070"/>
          </a:xfrm>
        </p:spPr>
        <p:txBody>
          <a:bodyPr/>
          <a:lstStyle/>
          <a:p>
            <a:r>
              <a:rPr lang="pl-PL" dirty="0"/>
              <a:t>Przekształcenia i architektura przydatna w projekcie: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CB6FB449-9909-5157-E989-6F59C695B48B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ymbol zastępczy tekstu 1">
            <a:extLst>
              <a:ext uri="{FF2B5EF4-FFF2-40B4-BE49-F238E27FC236}">
                <a16:creationId xmlns:a16="http://schemas.microsoft.com/office/drawing/2014/main" id="{14BFA997-EEE9-425A-DAA8-1B6CD0F0686D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5790466" cy="6912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RAG (Retrieval-Augmented Generation) </a:t>
            </a:r>
          </a:p>
        </p:txBody>
      </p: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9F020664-0006-8193-733A-8C3EA388C529}"/>
              </a:ext>
            </a:extLst>
          </p:cNvPr>
          <p:cNvSpPr txBox="1">
            <a:spLocks/>
          </p:cNvSpPr>
          <p:nvPr/>
        </p:nvSpPr>
        <p:spPr>
          <a:xfrm>
            <a:off x="12562532" y="8621216"/>
            <a:ext cx="4035197" cy="46166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https://www.coursera.org/articles/what-is-rag-in-ai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57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5961F37E-92B6-3B9D-2604-ECCB73D0E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410" y="2243328"/>
            <a:ext cx="12271186" cy="5657808"/>
          </a:xfrm>
        </p:spPr>
        <p:txBody>
          <a:bodyPr/>
          <a:lstStyle/>
          <a:p>
            <a:r>
              <a:rPr lang="pl-PL" dirty="0"/>
              <a:t>Oparty na </a:t>
            </a:r>
            <a:r>
              <a:rPr lang="pl-PL" dirty="0" err="1"/>
              <a:t>Llama</a:t>
            </a:r>
            <a:r>
              <a:rPr lang="pl-PL" dirty="0"/>
              <a:t>, wyszkolony na danych medycznych, dobry w zrozumieniu i generowaniu odpowiedzi klinicznych. </a:t>
            </a:r>
          </a:p>
          <a:p>
            <a:endParaRPr lang="pl-PL" dirty="0"/>
          </a:p>
          <a:p>
            <a:r>
              <a:rPr lang="pl-PL" dirty="0"/>
              <a:t>Rozmiar: do 16 GB</a:t>
            </a:r>
          </a:p>
          <a:p>
            <a:r>
              <a:rPr lang="pl-PL" dirty="0"/>
              <a:t>Kontekst: 8 tysięcy (ile informacji model językowy jest w stanie „widzieć” i brać pod uwagę jednocześnie, zanim wygeneruje odpowiedź)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467F3A92-7EC3-90A9-9415-483AAD6CA2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18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6D8FF0EB-0919-0699-8EFF-C3DD5A5B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4566330" cy="720080"/>
          </a:xfrm>
        </p:spPr>
        <p:txBody>
          <a:bodyPr/>
          <a:lstStyle/>
          <a:p>
            <a:r>
              <a:rPr lang="pl-PL" dirty="0"/>
              <a:t>Propozycja MODELI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89516F50-E736-9F31-5165-C28A871CF05C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ytuł 3">
            <a:extLst>
              <a:ext uri="{FF2B5EF4-FFF2-40B4-BE49-F238E27FC236}">
                <a16:creationId xmlns:a16="http://schemas.microsoft.com/office/drawing/2014/main" id="{8585E43D-F7A5-3DE4-72BF-B52902E5A341}"/>
              </a:ext>
            </a:extLst>
          </p:cNvPr>
          <p:cNvSpPr txBox="1">
            <a:spLocks/>
          </p:cNvSpPr>
          <p:nvPr/>
        </p:nvSpPr>
        <p:spPr>
          <a:xfrm>
            <a:off x="11713349" y="1114866"/>
            <a:ext cx="4767441" cy="65076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pPr algn="ctr"/>
            <a:r>
              <a:rPr lang="pl-PL" kern="0" dirty="0">
                <a:solidFill>
                  <a:sysClr val="windowText" lastClr="000000"/>
                </a:solidFill>
              </a:rPr>
              <a:t>MedLlama3-v20</a:t>
            </a:r>
          </a:p>
        </p:txBody>
      </p: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1E83BAF6-4590-AF4C-3D18-1F3D3CADFB96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Modele LLM</a:t>
            </a: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FA210D40-915C-8A82-B554-2A4E8F4C5D01}"/>
              </a:ext>
            </a:extLst>
          </p:cNvPr>
          <p:cNvSpPr txBox="1">
            <a:spLocks/>
          </p:cNvSpPr>
          <p:nvPr/>
        </p:nvSpPr>
        <p:spPr>
          <a:xfrm>
            <a:off x="13249880" y="7902425"/>
            <a:ext cx="3744416" cy="76630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https://ollama.com/rjmalagon/medllama3-v20</a:t>
            </a:r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endParaRPr lang="pl-PL" sz="1400" kern="0" dirty="0">
              <a:solidFill>
                <a:sysClr val="windowText" lastClr="000000"/>
              </a:solidFill>
            </a:endParaRPr>
          </a:p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3"/>
              </a:rPr>
              <a:t>https://ollama.com/ahmgam/medllama3-v20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480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B0BED-8F22-EBAB-DCB1-84F45A15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8B9AAE7E-D60B-9500-4360-D0DD47B2D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981" y="2140495"/>
            <a:ext cx="12271186" cy="6145083"/>
          </a:xfrm>
        </p:spPr>
        <p:txBody>
          <a:bodyPr/>
          <a:lstStyle/>
          <a:p>
            <a:pPr algn="just"/>
            <a:r>
              <a:rPr lang="pl-PL" sz="2000" dirty="0"/>
              <a:t>Otwarty model </a:t>
            </a:r>
            <a:r>
              <a:rPr lang="pl-PL" sz="2000" dirty="0" err="1"/>
              <a:t>OpenAI</a:t>
            </a:r>
            <a:r>
              <a:rPr lang="pl-PL" sz="2000" dirty="0"/>
              <a:t> zaprojektowane z myślą o mocnym rozumowaniu, zadaniach </a:t>
            </a:r>
            <a:r>
              <a:rPr lang="pl-PL" sz="2000" dirty="0" err="1"/>
              <a:t>agentycznych</a:t>
            </a:r>
            <a:r>
              <a:rPr lang="pl-PL" sz="2000" dirty="0"/>
              <a:t> i wszechstronnych przypadkach użycia programistów.</a:t>
            </a:r>
          </a:p>
          <a:p>
            <a:pPr algn="just"/>
            <a:endParaRPr lang="pl-PL" sz="2000" dirty="0"/>
          </a:p>
          <a:p>
            <a:pPr algn="just"/>
            <a:r>
              <a:rPr lang="pl-PL" sz="2000" dirty="0"/>
              <a:t>Rozmiar: najnowszy ma 14 GB (model 20B parametrów), starszy ma 65 GB (model 120B parametrów)</a:t>
            </a:r>
          </a:p>
          <a:p>
            <a:pPr algn="just"/>
            <a:r>
              <a:rPr lang="pl-PL" sz="2000" dirty="0"/>
              <a:t>Kontekst: 128 tysięcy</a:t>
            </a:r>
          </a:p>
          <a:p>
            <a:pPr algn="just"/>
            <a:endParaRPr lang="pl-PL" dirty="0"/>
          </a:p>
          <a:p>
            <a:pPr algn="just"/>
            <a:r>
              <a:rPr lang="pl-PL" sz="2000" b="1" dirty="0"/>
              <a:t>Najważniejsze cechy</a:t>
            </a:r>
          </a:p>
          <a:p>
            <a:pPr algn="just"/>
            <a:endParaRPr lang="pl-PL" sz="2000" b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b="1" dirty="0"/>
              <a:t>Możliwości </a:t>
            </a:r>
            <a:r>
              <a:rPr lang="pl-PL" sz="2000" b="1" dirty="0" err="1"/>
              <a:t>agentyczne</a:t>
            </a:r>
            <a:r>
              <a:rPr lang="pl-PL" sz="2000" dirty="0"/>
              <a:t>: Użyj natywnych możliwości </a:t>
            </a:r>
            <a:r>
              <a:rPr lang="pl-PL" sz="2000" dirty="0" err="1"/>
              <a:t>models</a:t>
            </a:r>
            <a:r>
              <a:rPr lang="pl-PL" sz="2000" dirty="0"/>
              <a:t>’ do wywoływania funkcji, przeglądania stron internetowych (Ollama wprowadza wbudowane wyszukiwanie w sieci, które można opcjonalnie włączyć), </a:t>
            </a:r>
            <a:r>
              <a:rPr lang="pl-PL" sz="2000" dirty="0" err="1"/>
              <a:t>wywołań</a:t>
            </a:r>
            <a:r>
              <a:rPr lang="pl-PL" sz="2000" dirty="0"/>
              <a:t> narzędzi </a:t>
            </a:r>
            <a:r>
              <a:rPr lang="pl-PL" sz="2000" dirty="0" err="1"/>
              <a:t>Pythona</a:t>
            </a:r>
            <a:r>
              <a:rPr lang="pl-PL" sz="2000" dirty="0"/>
              <a:t> i ustrukturyzowanych wyników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b="1" dirty="0"/>
              <a:t>Pełny łańcuch myśli</a:t>
            </a:r>
            <a:r>
              <a:rPr lang="pl-PL" sz="2000" dirty="0"/>
              <a:t>: Uzyskaj pełny dostęp do procesu wnioskowania modelu, ułatwiając łatwiejsze debugowanie i zwiększając zaufanie do wyników.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b="1" dirty="0"/>
              <a:t>Konfigurowalny wysiłek rozumowania:</a:t>
            </a:r>
            <a:r>
              <a:rPr lang="pl-PL" sz="2000" dirty="0"/>
              <a:t> Z łatwością dostosuj wysiłek rozumowania (niski, średni, wysoki) w oparciu o konkretny przypadek użycia i potrzeby związane z opóźnieniami.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b="1" dirty="0" err="1"/>
              <a:t>Dostrajalny</a:t>
            </a:r>
            <a:r>
              <a:rPr lang="pl-PL" sz="2000" dirty="0"/>
              <a:t>: W pełni dostosuj modele do konkretnego przypadku użycia poprzez dostrojenie parametrów.</a:t>
            </a:r>
            <a:br>
              <a:rPr lang="pl-PL" sz="2000" dirty="0"/>
            </a:br>
            <a:endParaRPr lang="pl-PL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2000" b="1" dirty="0"/>
              <a:t>Licencja </a:t>
            </a:r>
            <a:r>
              <a:rPr lang="pl-PL" sz="2000" b="1" dirty="0" err="1"/>
              <a:t>Permissive</a:t>
            </a:r>
            <a:r>
              <a:rPr lang="pl-PL" sz="2000" b="1" dirty="0"/>
              <a:t> Apache 2.0: </a:t>
            </a:r>
            <a:r>
              <a:rPr lang="pl-PL" sz="2000" dirty="0"/>
              <a:t>Buduj swobodnie, bez ograniczeń </a:t>
            </a:r>
            <a:r>
              <a:rPr lang="pl-PL" sz="2000" dirty="0" err="1"/>
              <a:t>copyleft</a:t>
            </a:r>
            <a:r>
              <a:rPr lang="pl-PL" sz="2000" dirty="0"/>
              <a:t> i ryzyka patentowego. Idealny do eksperymentów, dostosowywania i wdrażania komercyjnego.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09D196F3-751D-1B99-CF22-65FF60E71A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19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8C8A5F12-C51B-ABA3-A4DD-0B646F2B2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4566330" cy="720080"/>
          </a:xfrm>
        </p:spPr>
        <p:txBody>
          <a:bodyPr/>
          <a:lstStyle/>
          <a:p>
            <a:r>
              <a:rPr lang="pl-PL" dirty="0"/>
              <a:t>Propozycja MODELI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294E3A68-99E0-5AF4-B592-E9932BAE62B2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ytuł 3">
            <a:extLst>
              <a:ext uri="{FF2B5EF4-FFF2-40B4-BE49-F238E27FC236}">
                <a16:creationId xmlns:a16="http://schemas.microsoft.com/office/drawing/2014/main" id="{7511000D-7408-18A5-A8FA-B9F8BD4218CD}"/>
              </a:ext>
            </a:extLst>
          </p:cNvPr>
          <p:cNvSpPr txBox="1">
            <a:spLocks/>
          </p:cNvSpPr>
          <p:nvPr/>
        </p:nvSpPr>
        <p:spPr>
          <a:xfrm>
            <a:off x="11713349" y="1114866"/>
            <a:ext cx="4767441" cy="65076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pPr algn="ctr"/>
            <a:r>
              <a:rPr lang="pl-PL" kern="0" dirty="0">
                <a:solidFill>
                  <a:sysClr val="windowText" lastClr="000000"/>
                </a:solidFill>
              </a:rPr>
              <a:t>GPT-</a:t>
            </a:r>
            <a:r>
              <a:rPr lang="pl-PL" kern="0" dirty="0" err="1">
                <a:solidFill>
                  <a:sysClr val="windowText" lastClr="000000"/>
                </a:solidFill>
              </a:rPr>
              <a:t>oss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F6A6F68D-095C-8508-C682-4DCE15A84634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Modele LLM</a:t>
            </a: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D1DE7F59-1C43-5D32-CF6D-C9E683B2ED97}"/>
              </a:ext>
            </a:extLst>
          </p:cNvPr>
          <p:cNvSpPr txBox="1">
            <a:spLocks/>
          </p:cNvSpPr>
          <p:nvPr/>
        </p:nvSpPr>
        <p:spPr>
          <a:xfrm>
            <a:off x="14097069" y="8529513"/>
            <a:ext cx="3744416" cy="766309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https://ollama.com/library/gpt-oss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24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387E-3A41-8C17-2435-EE205A6F3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21D348C7-644A-7230-C3B8-D83D9E8B9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911" y="2241988"/>
            <a:ext cx="12271186" cy="5657808"/>
          </a:xfrm>
        </p:spPr>
        <p:txBody>
          <a:bodyPr/>
          <a:lstStyle/>
          <a:p>
            <a:r>
              <a:rPr lang="pl-PL" dirty="0"/>
              <a:t>Polski LLM - Bielik-11B-v2.3-Instruct. Zbudowany i wyszkolony jako silny model średniej wielkości do zadań ogólnych i językowych w polskim. Dzięki większej liczbie parametrów zazwyczaj lepiej radzi sobie z kompleksowym rozumieniem kontekstu i generowaniem szczegółowych odpowiedzi.</a:t>
            </a:r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Rozmiar: od 6,7 GM do 12GB (model 11B parametrów)</a:t>
            </a:r>
          </a:p>
          <a:p>
            <a:r>
              <a:rPr lang="pl-PL" dirty="0"/>
              <a:t>Kontekst: 32 tysiące</a:t>
            </a:r>
          </a:p>
          <a:p>
            <a:endParaRPr lang="pl-PL" dirty="0"/>
          </a:p>
          <a:p>
            <a:r>
              <a:rPr lang="pl-PL" b="1" dirty="0"/>
              <a:t>Opis modelu: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Opracowany przez:</a:t>
            </a:r>
            <a:r>
              <a:rPr lang="pl-PL" dirty="0"/>
              <a:t> </a:t>
            </a:r>
            <a:r>
              <a:rPr lang="pl-PL" u="sng" dirty="0" err="1">
                <a:hlinkClick r:id="rId2"/>
              </a:rPr>
              <a:t>SpeakLeash</a:t>
            </a:r>
            <a:r>
              <a:rPr lang="pl-PL" dirty="0"/>
              <a:t> &amp; </a:t>
            </a:r>
            <a:r>
              <a:rPr lang="pl-PL" u="sng" dirty="0">
                <a:hlinkClick r:id="rId3"/>
              </a:rPr>
              <a:t>ACK </a:t>
            </a:r>
            <a:r>
              <a:rPr lang="pl-PL" u="sng" dirty="0" err="1">
                <a:hlinkClick r:id="rId3"/>
              </a:rPr>
              <a:t>Cyfronet</a:t>
            </a:r>
            <a:r>
              <a:rPr lang="pl-PL" u="sng" dirty="0">
                <a:hlinkClick r:id="rId3"/>
              </a:rPr>
              <a:t> </a:t>
            </a:r>
            <a:r>
              <a:rPr lang="pl-PL" u="sng" dirty="0" err="1">
                <a:hlinkClick r:id="rId3"/>
              </a:rPr>
              <a:t>AGH</a:t>
            </a:r>
            <a:r>
              <a:rPr lang="pl-PL" b="1" dirty="0" err="1"/>
              <a:t>Język</a:t>
            </a:r>
            <a:r>
              <a:rPr lang="pl-PL" b="1" dirty="0"/>
              <a:t>:</a:t>
            </a:r>
            <a:r>
              <a:rPr lang="pl-PL" dirty="0"/>
              <a:t> Polski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Typ modelu:</a:t>
            </a:r>
            <a:r>
              <a:rPr lang="pl-PL" dirty="0"/>
              <a:t>  </a:t>
            </a:r>
            <a:r>
              <a:rPr lang="pl-PL" dirty="0" err="1"/>
              <a:t>causal</a:t>
            </a:r>
            <a:r>
              <a:rPr lang="pl-PL" dirty="0"/>
              <a:t> </a:t>
            </a:r>
            <a:r>
              <a:rPr lang="pl-PL" dirty="0" err="1"/>
              <a:t>decoder-only</a:t>
            </a: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Z:</a:t>
            </a:r>
            <a:r>
              <a:rPr lang="pl-PL" dirty="0"/>
              <a:t> </a:t>
            </a:r>
            <a:r>
              <a:rPr lang="pl-PL" u="sng" dirty="0">
                <a:hlinkClick r:id="rId4"/>
              </a:rPr>
              <a:t>Bielik-11B-v2.3-Instruct</a:t>
            </a: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Dostrojony od:</a:t>
            </a:r>
            <a:r>
              <a:rPr lang="pl-PL" dirty="0"/>
              <a:t> </a:t>
            </a:r>
            <a:r>
              <a:rPr lang="pl-PL" u="sng" dirty="0">
                <a:hlinkClick r:id="rId5"/>
              </a:rPr>
              <a:t>Bielik-11B-v2</a:t>
            </a:r>
            <a:endParaRPr lang="pl-P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l-PL" b="1" dirty="0"/>
              <a:t>Licencja:</a:t>
            </a:r>
            <a:r>
              <a:rPr lang="pl-PL" dirty="0"/>
              <a:t> Apache 2.0 i </a:t>
            </a:r>
            <a:r>
              <a:rPr lang="pl-PL" u="sng" dirty="0">
                <a:hlinkClick r:id="rId6"/>
              </a:rPr>
              <a:t>Warunki korzystania</a:t>
            </a:r>
            <a:endParaRPr lang="pl-PL" dirty="0"/>
          </a:p>
          <a:p>
            <a:endParaRPr lang="pl-PL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27E130D1-F508-73DD-AA6F-8C32CEACE2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20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89E583BF-235B-3BBF-1D9A-E8DDEF1CB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4566330" cy="720080"/>
          </a:xfrm>
        </p:spPr>
        <p:txBody>
          <a:bodyPr/>
          <a:lstStyle/>
          <a:p>
            <a:r>
              <a:rPr lang="pl-PL" dirty="0"/>
              <a:t>Propozycja MODELI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A56F7A96-87FD-382B-C2A5-844674F79CC9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ytuł 3">
            <a:extLst>
              <a:ext uri="{FF2B5EF4-FFF2-40B4-BE49-F238E27FC236}">
                <a16:creationId xmlns:a16="http://schemas.microsoft.com/office/drawing/2014/main" id="{4408682F-F326-1019-B5ED-22061319B899}"/>
              </a:ext>
            </a:extLst>
          </p:cNvPr>
          <p:cNvSpPr txBox="1">
            <a:spLocks/>
          </p:cNvSpPr>
          <p:nvPr/>
        </p:nvSpPr>
        <p:spPr>
          <a:xfrm>
            <a:off x="11713349" y="1114866"/>
            <a:ext cx="4767441" cy="65076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pPr algn="ctr"/>
            <a:r>
              <a:rPr lang="pl-PL" dirty="0"/>
              <a:t>Bielik-11B-v2.3</a:t>
            </a:r>
            <a:endParaRPr lang="pl-PL" kern="0" dirty="0">
              <a:solidFill>
                <a:sysClr val="windowText" lastClr="000000"/>
              </a:solidFill>
            </a:endParaRPr>
          </a:p>
        </p:txBody>
      </p: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104FE873-8893-24FB-D3FB-CDAD95F6875B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Modele LLM</a:t>
            </a: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B4A40D64-2858-7615-666E-6C17F72B42F0}"/>
              </a:ext>
            </a:extLst>
          </p:cNvPr>
          <p:cNvSpPr txBox="1">
            <a:spLocks/>
          </p:cNvSpPr>
          <p:nvPr/>
        </p:nvSpPr>
        <p:spPr>
          <a:xfrm>
            <a:off x="12195799" y="8162599"/>
            <a:ext cx="4767441" cy="49399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7"/>
              </a:rPr>
              <a:t>https://ollama.com/SpeakLeash/bielik-11b-v2.3-instruct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5547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EFF61-A7B8-1CE8-CFEB-7C11F089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39355206-416D-C8D6-F7EB-641E21316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996" y="2284512"/>
            <a:ext cx="12271186" cy="5657808"/>
          </a:xfrm>
        </p:spPr>
        <p:txBody>
          <a:bodyPr/>
          <a:lstStyle/>
          <a:p>
            <a:pPr algn="just"/>
            <a:r>
              <a:rPr lang="pl-PL" dirty="0" err="1"/>
              <a:t>Llama</a:t>
            </a:r>
            <a:r>
              <a:rPr lang="pl-PL" dirty="0"/>
              <a:t> 3.1 to nowy, najnowocześniejszy model firmy Meta dostępny w rozmiarach parametrów 8B, 70B i 405B.</a:t>
            </a:r>
          </a:p>
          <a:p>
            <a:pPr algn="just"/>
            <a:endParaRPr lang="pl-PL" dirty="0"/>
          </a:p>
          <a:p>
            <a:pPr algn="just"/>
            <a:r>
              <a:rPr lang="pl-PL" dirty="0"/>
              <a:t>Rozmiar: 4.9 GB (model 8B parametrów), 43 GB (model 70B parametrów), 243 GB (model 405B parametrów)</a:t>
            </a:r>
          </a:p>
          <a:p>
            <a:pPr algn="just"/>
            <a:r>
              <a:rPr lang="pl-PL" dirty="0"/>
              <a:t>Kontekst: 128 tysięcy</a:t>
            </a:r>
          </a:p>
          <a:p>
            <a:pPr algn="just"/>
            <a:endParaRPr lang="pl-PL" dirty="0"/>
          </a:p>
          <a:p>
            <a:pPr algn="just"/>
            <a:r>
              <a:rPr lang="pl-PL" dirty="0" err="1"/>
              <a:t>Llama</a:t>
            </a:r>
            <a:r>
              <a:rPr lang="pl-PL" dirty="0"/>
              <a:t> 3.1 405 B to pierwszy otwarcie dostępny model, który konkuruje z najlepszymi modelami AI, jeśli chodzi o najnowocześniejsze możliwości w zakresie wiedzy ogólnej, sterowności, matematyki, użycia narzędzi i tłumaczenia wielojęzycznego. Flagowy model jest konkurencyjny w stosunku do wiodących modeli podstawowych w różnych zadaniach, w tym GPT-4, GPT-4o i Claude 3.5 </a:t>
            </a:r>
            <a:r>
              <a:rPr lang="pl-PL" dirty="0" err="1"/>
              <a:t>Sonnet</a:t>
            </a:r>
            <a:r>
              <a:rPr lang="pl-PL" dirty="0"/>
              <a:t>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39A7E34-F853-74ED-FB8C-69162C861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21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A4BFEB57-0D14-24F3-FB69-E67DDA82E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4566330" cy="720080"/>
          </a:xfrm>
        </p:spPr>
        <p:txBody>
          <a:bodyPr/>
          <a:lstStyle/>
          <a:p>
            <a:r>
              <a:rPr lang="pl-PL" dirty="0"/>
              <a:t>Propozycja MODELI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DB3AC854-A387-15F2-A67D-7D646BA8266B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ytuł 3">
            <a:extLst>
              <a:ext uri="{FF2B5EF4-FFF2-40B4-BE49-F238E27FC236}">
                <a16:creationId xmlns:a16="http://schemas.microsoft.com/office/drawing/2014/main" id="{900EBD99-725F-89C2-4AC0-6DC9E1E26E19}"/>
              </a:ext>
            </a:extLst>
          </p:cNvPr>
          <p:cNvSpPr txBox="1">
            <a:spLocks/>
          </p:cNvSpPr>
          <p:nvPr/>
        </p:nvSpPr>
        <p:spPr>
          <a:xfrm>
            <a:off x="11713349" y="1114866"/>
            <a:ext cx="4767441" cy="65076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pPr algn="ctr"/>
            <a:r>
              <a:rPr lang="pl-PL" kern="0" dirty="0" err="1">
                <a:solidFill>
                  <a:sysClr val="windowText" lastClr="000000"/>
                </a:solidFill>
              </a:rPr>
              <a:t>Llama</a:t>
            </a:r>
            <a:r>
              <a:rPr lang="pl-PL" kern="0" dirty="0">
                <a:solidFill>
                  <a:sysClr val="windowText" lastClr="000000"/>
                </a:solidFill>
              </a:rPr>
              <a:t> 3.1</a:t>
            </a:r>
          </a:p>
        </p:txBody>
      </p: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7B335DFD-7C34-E1D2-21CB-CDD65F24C9E1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Modele LLM</a:t>
            </a: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120FF218-5A6B-1EAA-A5D7-7CE2054A04BA}"/>
              </a:ext>
            </a:extLst>
          </p:cNvPr>
          <p:cNvSpPr txBox="1">
            <a:spLocks/>
          </p:cNvSpPr>
          <p:nvPr/>
        </p:nvSpPr>
        <p:spPr>
          <a:xfrm>
            <a:off x="13786668" y="8400666"/>
            <a:ext cx="3103037" cy="4761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https://ollama.com/library/llama3.1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15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D255-E48E-5960-6922-B7F25734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D114D6C3-3FF0-9DE1-007D-CA3075A2F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495" y="1930765"/>
            <a:ext cx="12271186" cy="6768752"/>
          </a:xfrm>
        </p:spPr>
        <p:txBody>
          <a:bodyPr/>
          <a:lstStyle/>
          <a:p>
            <a:pPr algn="just"/>
            <a:r>
              <a:rPr lang="pl-PL" sz="1800" dirty="0"/>
              <a:t>Google Gemma 2 to wysokowydajny i wydajny model dostępny w trzech rozmiarach: 2B, 9B i 27B.</a:t>
            </a:r>
          </a:p>
          <a:p>
            <a:pPr algn="just"/>
            <a:endParaRPr lang="pl-PL" sz="1800" dirty="0"/>
          </a:p>
          <a:p>
            <a:pPr algn="just"/>
            <a:r>
              <a:rPr lang="pl-PL" sz="1800" dirty="0"/>
              <a:t>Rozmiar: Od 1.6 GB do 16 GB</a:t>
            </a:r>
          </a:p>
          <a:p>
            <a:pPr algn="just"/>
            <a:r>
              <a:rPr lang="pl-PL" sz="1800" dirty="0"/>
              <a:t>Kontekst: 8 tysięcy</a:t>
            </a:r>
          </a:p>
          <a:p>
            <a:pPr algn="just"/>
            <a:endParaRPr lang="pl-PL" sz="1800" dirty="0"/>
          </a:p>
          <a:p>
            <a:pPr algn="just"/>
            <a:r>
              <a:rPr lang="pl-PL" sz="1800" b="1" dirty="0"/>
              <a:t>Tworzenie treści i komunikacja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1800" dirty="0"/>
              <a:t>Generowanie tekstu: Modele te można wykorzystać do generowania kreatywnych formatów tekstu takie jak wiersze, scenariusze, kod, kopie marketingowe i wersje robocze e-maili.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1800" dirty="0" err="1"/>
              <a:t>Chatboty</a:t>
            </a:r>
            <a:r>
              <a:rPr lang="pl-PL" sz="1800" dirty="0"/>
              <a:t> i konwersacyjna sztuczna inteligencja: Zasilanie interfejsów konwersacyjnych dla klienta serwis, wirtualni asystenci, czy aplikacje interaktywne.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1800" dirty="0"/>
              <a:t>Podsumowanie tekstu: Generuj zwięzłe streszczenia korpusu tekstowego, badania papiery, czyli raporty.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1800" dirty="0"/>
          </a:p>
          <a:p>
            <a:pPr algn="just"/>
            <a:r>
              <a:rPr lang="pl-PL" sz="1800" b="1" dirty="0"/>
              <a:t>Badania i edukacja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1800" dirty="0"/>
              <a:t>Badania nad przetwarzaniem języka naturalnego (NLP): Modele te mogą służyć jako: fundacja dla badaczy do eksperymentowania z technikami NLP, rozwijać algorytmy i przyczyniają się do rozwoju tej dziedziny.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1800" dirty="0"/>
              <a:t>Narzędzia do nauki języków: Wspieraj interaktywne doświadczenia związane z nauką języków, pomoc w korekcie gramatyki lub zapewnienie praktyki pisania.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l-PL" sz="18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l-PL" sz="1800" dirty="0"/>
              <a:t>Eksploracja wiedzy: pomaga badaczom w badaniu dużych zbiorów tekstu generując podsumowania lub odpowiadając na pytania dotyczące konkretnych tematów</a:t>
            </a:r>
            <a:r>
              <a:rPr lang="pl-PL" sz="2000" dirty="0"/>
              <a:t>.</a:t>
            </a:r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DDC0C403-3DE1-4BB4-6FE2-5617214DDA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22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14783642-5B42-F390-2246-F4387262C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410" y="412304"/>
            <a:ext cx="4566330" cy="720080"/>
          </a:xfrm>
        </p:spPr>
        <p:txBody>
          <a:bodyPr/>
          <a:lstStyle/>
          <a:p>
            <a:r>
              <a:rPr lang="pl-PL" dirty="0"/>
              <a:t>Propozycja MODELI 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12AB98E1-E0CF-A4B6-EF9E-65F4A2D9269C}"/>
              </a:ext>
            </a:extLst>
          </p:cNvPr>
          <p:cNvCxnSpPr>
            <a:cxnSpLocks/>
          </p:cNvCxnSpPr>
          <p:nvPr/>
        </p:nvCxnSpPr>
        <p:spPr>
          <a:xfrm flipH="1">
            <a:off x="0" y="700336"/>
            <a:ext cx="656194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ytuł 3">
            <a:extLst>
              <a:ext uri="{FF2B5EF4-FFF2-40B4-BE49-F238E27FC236}">
                <a16:creationId xmlns:a16="http://schemas.microsoft.com/office/drawing/2014/main" id="{3995026B-B1B1-E6B2-61DD-270D39374664}"/>
              </a:ext>
            </a:extLst>
          </p:cNvPr>
          <p:cNvSpPr txBox="1">
            <a:spLocks/>
          </p:cNvSpPr>
          <p:nvPr/>
        </p:nvSpPr>
        <p:spPr>
          <a:xfrm>
            <a:off x="11713349" y="1114866"/>
            <a:ext cx="4767441" cy="650760"/>
          </a:xfrm>
          <a:prstGeom prst="rect">
            <a:avLst/>
          </a:prstGeom>
          <a:ln w="38100">
            <a:solidFill>
              <a:srgbClr val="C00000"/>
            </a:solidFill>
          </a:ln>
        </p:spPr>
        <p:txBody>
          <a:bodyPr wrap="square" lIns="0" tIns="0" rIns="0" bIns="0" anchor="ctr">
            <a:noAutofit/>
          </a:bodyPr>
          <a:lstStyle>
            <a:lvl1pPr eaLnBrk="1" hangingPunct="1">
              <a:defRPr sz="3600" b="1">
                <a:latin typeface="Good Headline Pro"/>
                <a:ea typeface="+mj-ea"/>
                <a:cs typeface="+mj-cs"/>
              </a:defRPr>
            </a:lvl1pPr>
          </a:lstStyle>
          <a:p>
            <a:pPr algn="ctr"/>
            <a:r>
              <a:rPr lang="pl-PL" kern="0" dirty="0">
                <a:solidFill>
                  <a:sysClr val="windowText" lastClr="000000"/>
                </a:solidFill>
              </a:rPr>
              <a:t>Gemma2</a:t>
            </a:r>
          </a:p>
        </p:txBody>
      </p:sp>
      <p:sp>
        <p:nvSpPr>
          <p:cNvPr id="7" name="Symbol zastępczy tekstu 1">
            <a:extLst>
              <a:ext uri="{FF2B5EF4-FFF2-40B4-BE49-F238E27FC236}">
                <a16:creationId xmlns:a16="http://schemas.microsoft.com/office/drawing/2014/main" id="{17B35257-A65C-E923-57C6-1BACCE04A7E0}"/>
              </a:ext>
            </a:extLst>
          </p:cNvPr>
          <p:cNvSpPr txBox="1">
            <a:spLocks/>
          </p:cNvSpPr>
          <p:nvPr/>
        </p:nvSpPr>
        <p:spPr>
          <a:xfrm>
            <a:off x="867410" y="1054083"/>
            <a:ext cx="6582554" cy="69128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kern="0" dirty="0">
                <a:solidFill>
                  <a:sysClr val="windowText" lastClr="000000"/>
                </a:solidFill>
                <a:latin typeface="Agency FB" panose="020B0503020202020204" pitchFamily="34" charset="0"/>
              </a:rPr>
              <a:t>Modele LLM</a:t>
            </a:r>
          </a:p>
        </p:txBody>
      </p:sp>
      <p:sp>
        <p:nvSpPr>
          <p:cNvPr id="9" name="Symbol zastępczy tekstu 1">
            <a:extLst>
              <a:ext uri="{FF2B5EF4-FFF2-40B4-BE49-F238E27FC236}">
                <a16:creationId xmlns:a16="http://schemas.microsoft.com/office/drawing/2014/main" id="{CA573B7A-D01B-C617-A092-3CBC2570670D}"/>
              </a:ext>
            </a:extLst>
          </p:cNvPr>
          <p:cNvSpPr txBox="1">
            <a:spLocks/>
          </p:cNvSpPr>
          <p:nvPr/>
        </p:nvSpPr>
        <p:spPr>
          <a:xfrm>
            <a:off x="13786668" y="8400666"/>
            <a:ext cx="3103037" cy="47613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eaLnBrk="1" hangingPunct="1">
              <a:defRPr sz="2400"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l-PL" sz="1400" kern="0" dirty="0">
                <a:solidFill>
                  <a:sysClr val="windowText" lastClr="000000"/>
                </a:solidFill>
                <a:hlinkClick r:id="rId2"/>
              </a:rPr>
              <a:t>https://ollama.com/library/llama3.1</a:t>
            </a:r>
            <a:endParaRPr lang="pl-PL" sz="1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844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ekstu 1">
            <a:extLst>
              <a:ext uri="{FF2B5EF4-FFF2-40B4-BE49-F238E27FC236}">
                <a16:creationId xmlns:a16="http://schemas.microsoft.com/office/drawing/2014/main" id="{527231C2-5B21-11D2-BB15-F6B20E9132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BB31DC3D-79F9-6E13-1CBB-5319EA96AC2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12700">
              <a:lnSpc>
                <a:spcPts val="1925"/>
              </a:lnSpc>
            </a:pPr>
            <a:r>
              <a:rPr lang="pl-PL"/>
              <a:t>Page </a:t>
            </a:r>
            <a:fld id="{B6F15528-21DE-4FAA-801E-634DDDAF4B2B}" type="slidenum">
              <a:rPr smtClean="0"/>
              <a:pPr marL="12700">
                <a:lnSpc>
                  <a:spcPts val="1925"/>
                </a:lnSpc>
              </a:pPr>
              <a:t>23</a:t>
            </a:fld>
            <a:endParaRPr dirty="0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EFC06994-17F3-98B7-5B49-9192FEF2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52621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FCF2-25E0-24B0-887D-1D14CD39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B7D0B974-2D86-0BFD-6CA9-5270AAEFBF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115" y="4300736"/>
            <a:ext cx="14745970" cy="2686227"/>
          </a:xfrm>
        </p:spPr>
        <p:txBody>
          <a:bodyPr/>
          <a:lstStyle/>
          <a:p>
            <a:pPr algn="ctr"/>
            <a:r>
              <a:rPr lang="pl-PL" sz="4400" dirty="0"/>
              <a:t>Dziękuję za uwagę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7A6D1401-562E-C7B3-65EF-62F5362696AE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15800" y="8261176"/>
            <a:ext cx="14916600" cy="936104"/>
          </a:xfrm>
        </p:spPr>
        <p:txBody>
          <a:bodyPr/>
          <a:lstStyle/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</a:t>
            </a:r>
            <a:r>
              <a:rPr lang="en-US" sz="2400" spc="-1" dirty="0" err="1">
                <a:solidFill>
                  <a:srgbClr val="000000"/>
                </a:solidFill>
                <a:latin typeface="Arial"/>
              </a:rPr>
              <a:t>epartment</a:t>
            </a:r>
            <a:r>
              <a:rPr lang="en-US" sz="2400" spc="-1" dirty="0">
                <a:solidFill>
                  <a:srgbClr val="000000"/>
                </a:solidFill>
                <a:latin typeface="Arial"/>
              </a:rPr>
              <a:t> of Biostatistics and Bioinformatics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r>
              <a:rPr lang="pl-PL" sz="2400" spc="-1" dirty="0">
                <a:solidFill>
                  <a:srgbClr val="000000"/>
                </a:solidFill>
                <a:latin typeface="Arial"/>
              </a:rPr>
              <a:t>Dział Analiz </a:t>
            </a:r>
            <a:r>
              <a:rPr lang="pl-PL" sz="2400" spc="-1" dirty="0" err="1">
                <a:solidFill>
                  <a:srgbClr val="000000"/>
                </a:solidFill>
                <a:latin typeface="Arial"/>
              </a:rPr>
              <a:t>Bioinformatyczno-Biostatystycznych</a:t>
            </a:r>
            <a:r>
              <a:rPr lang="pl-PL" sz="2400" spc="-1" dirty="0">
                <a:solidFill>
                  <a:srgbClr val="000000"/>
                </a:solidFill>
                <a:latin typeface="Arial"/>
              </a:rPr>
              <a:t> </a:t>
            </a:r>
            <a:endParaRPr lang="pl-PL" sz="2400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  <a:spcAft>
                <a:spcPts val="300"/>
              </a:spcAft>
            </a:pPr>
            <a:endParaRPr lang="pl-PL" sz="2400" b="1" dirty="0"/>
          </a:p>
        </p:txBody>
      </p:sp>
    </p:spTree>
    <p:extLst>
      <p:ext uri="{BB962C8B-B14F-4D97-AF65-F5344CB8AC3E}">
        <p14:creationId xmlns:p14="http://schemas.microsoft.com/office/powerpoint/2010/main" val="187096654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3" id="{4FC21289-F34E-45F9-B5E7-A582BBE57E8A}" vid="{6BF5EED0-4686-48A4-9FDD-2CFDE25DE93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dn_dab</Template>
  <TotalTime>3470</TotalTime>
  <Words>2975</Words>
  <Application>Microsoft Office PowerPoint</Application>
  <PresentationFormat>Niestandardowy</PresentationFormat>
  <Paragraphs>338</Paragraphs>
  <Slides>24</Slides>
  <Notes>2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30" baseType="lpstr">
      <vt:lpstr>Agency FB</vt:lpstr>
      <vt:lpstr>Arial</vt:lpstr>
      <vt:lpstr>Calibri</vt:lpstr>
      <vt:lpstr>Good Headline Pro</vt:lpstr>
      <vt:lpstr>Wingdings</vt:lpstr>
      <vt:lpstr>Motyw pakietu Office</vt:lpstr>
      <vt:lpstr>Data analysis of research project:   LLM – rodzaje, zastosowania i wytyczne kliniczne</vt:lpstr>
      <vt:lpstr>LLM – Large Language Model</vt:lpstr>
      <vt:lpstr>Rodzaje LLM</vt:lpstr>
      <vt:lpstr>OpenAI</vt:lpstr>
      <vt:lpstr>Google DeepMind</vt:lpstr>
      <vt:lpstr>DeepSeek</vt:lpstr>
      <vt:lpstr>Skąd brać modele? </vt:lpstr>
      <vt:lpstr>Skąd brać modele? </vt:lpstr>
      <vt:lpstr>Skąd brać modele? </vt:lpstr>
      <vt:lpstr>Skąd brać modele? </vt:lpstr>
      <vt:lpstr>ESMO</vt:lpstr>
      <vt:lpstr>ATA</vt:lpstr>
      <vt:lpstr>ASCO</vt:lpstr>
      <vt:lpstr>KOM</vt:lpstr>
      <vt:lpstr>Prezentacja programu PowerPoint</vt:lpstr>
      <vt:lpstr>Przekształcenia i architektura przydatna w projekcie :</vt:lpstr>
      <vt:lpstr>Przekształcenia i architektura przydatna w projekcie:</vt:lpstr>
      <vt:lpstr>Propozycja MODELI </vt:lpstr>
      <vt:lpstr>Propozycja MODELI </vt:lpstr>
      <vt:lpstr>Propozycja MODELI </vt:lpstr>
      <vt:lpstr>Propozycja MODELI </vt:lpstr>
      <vt:lpstr>Propozycja MODELI </vt:lpstr>
      <vt:lpstr>Prezentacja programu PowerPoint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of research project:   tu tytuł</dc:title>
  <dc:creator>Marcela Krzempek</dc:creator>
  <cp:lastModifiedBy>Natalia Nowak (nn312853)</cp:lastModifiedBy>
  <cp:revision>127</cp:revision>
  <dcterms:created xsi:type="dcterms:W3CDTF">2024-03-11T13:52:44Z</dcterms:created>
  <dcterms:modified xsi:type="dcterms:W3CDTF">2026-01-21T13:20:25Z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2020-01-31T00:00:00Z</vt:filetime>
  </property>
  <property fmtid="{D5CDD505-2E9C-101B-9397-08002B2CF9AE}" pid="3" name="Creator">
    <vt:lpwstr>Adobe InDesign 15.0 (Macintosh)</vt:lpwstr>
  </property>
  <property fmtid="{D5CDD505-2E9C-101B-9397-08002B2CF9AE}" pid="4" name="LastSaved">
    <vt:filetime>2020-01-31T00:00:00Z</vt:filetime>
  </property>
</Properties>
</file>